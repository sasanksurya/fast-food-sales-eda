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3225" autoAdjust="0"/>
    <p:restoredTop sz="94660"/>
  </p:normalViewPr>
  <p:slideViewPr>
    <p:cSldViewPr>
      <p:cViewPr varScale="1">
        <p:scale>
          <a:sx n="61" d="100"/>
          <a:sy n="61" d="100"/>
        </p:scale>
        <p:origin x="-1508" y="-6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8A9A27F-D57E-46C1-9607-576D5CD78BA0}"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A9A27F-D57E-46C1-9607-576D5CD78BA0}"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8A9A27F-D57E-46C1-9607-576D5CD78BA0}"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8A9A27F-D57E-46C1-9607-576D5CD78BA0}"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8A9A27F-D57E-46C1-9607-576D5CD78BA0}"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8A9A27F-D57E-46C1-9607-576D5CD78BA0}"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A9A27F-D57E-46C1-9607-576D5CD78BA0}"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A9A27F-D57E-46C1-9607-576D5CD78BA0}"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8A9A27F-D57E-46C1-9607-576D5CD78BA0}"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A9A27F-D57E-46C1-9607-576D5CD78BA0}"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A9A27F-D57E-46C1-9607-576D5CD78BA0}"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BBAFC5-D771-490D-B638-44ECFACCEA0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A9A27F-D57E-46C1-9607-576D5CD78BA0}"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BBAFC5-D771-490D-B638-44ECFACCEA0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4348" y="2571744"/>
            <a:ext cx="7772400" cy="1000132"/>
          </a:xfrm>
        </p:spPr>
        <p:txBody>
          <a:bodyPr/>
          <a:lstStyle/>
          <a:p>
            <a:r>
              <a:rPr lang="en-IN" b="1" dirty="0" smtClean="0"/>
              <a:t>Truning Sales Data into Insights</a:t>
            </a:r>
            <a:endParaRPr lang="en-US" b="1" dirty="0"/>
          </a:p>
        </p:txBody>
      </p:sp>
      <p:sp>
        <p:nvSpPr>
          <p:cNvPr id="3" name="Subtitle 2"/>
          <p:cNvSpPr>
            <a:spLocks noGrp="1"/>
          </p:cNvSpPr>
          <p:nvPr>
            <p:ph type="subTitle" idx="1"/>
          </p:nvPr>
        </p:nvSpPr>
        <p:spPr>
          <a:xfrm>
            <a:off x="1371600" y="3643314"/>
            <a:ext cx="6400800" cy="1995486"/>
          </a:xfrm>
        </p:spPr>
        <p:txBody>
          <a:bodyPr/>
          <a:lstStyle/>
          <a:p>
            <a:r>
              <a:rPr lang="en-IN" b="1" dirty="0" smtClean="0">
                <a:solidFill>
                  <a:schemeClr val="tx1"/>
                </a:solidFill>
              </a:rPr>
              <a:t>Balaji Fast Food Sales</a:t>
            </a:r>
            <a:endParaRPr lang="en-US" b="1" dirty="0">
              <a:solidFill>
                <a:schemeClr val="tx1"/>
              </a:solidFill>
            </a:endParaRPr>
          </a:p>
        </p:txBody>
      </p:sp>
      <p:pic>
        <p:nvPicPr>
          <p:cNvPr id="4" name="Picture 3" descr="Screenshot 2025-12-25 135022.png"/>
          <p:cNvPicPr>
            <a:picLocks noChangeAspect="1"/>
          </p:cNvPicPr>
          <p:nvPr/>
        </p:nvPicPr>
        <p:blipFill>
          <a:blip r:embed="rId2"/>
          <a:stretch>
            <a:fillRect/>
          </a:stretch>
        </p:blipFill>
        <p:spPr>
          <a:xfrm>
            <a:off x="0" y="0"/>
            <a:ext cx="9144000" cy="2278578"/>
          </a:xfrm>
          <a:prstGeom prst="rect">
            <a:avLst/>
          </a:prstGeom>
        </p:spPr>
      </p:pic>
      <p:pic>
        <p:nvPicPr>
          <p:cNvPr id="5" name="Picture 4" descr="Screenshot 2025-12-25 135022.png"/>
          <p:cNvPicPr>
            <a:picLocks noChangeAspect="1"/>
          </p:cNvPicPr>
          <p:nvPr/>
        </p:nvPicPr>
        <p:blipFill>
          <a:blip r:embed="rId3" cstate="print"/>
          <a:srcRect l="25840" t="7937" r="5856" b="33476"/>
          <a:stretch>
            <a:fillRect/>
          </a:stretch>
        </p:blipFill>
        <p:spPr>
          <a:xfrm>
            <a:off x="6643702" y="6072206"/>
            <a:ext cx="2500298" cy="7857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3437" t="6107" r="8593" b="37555"/>
          <a:stretch>
            <a:fillRect/>
          </a:stretch>
        </p:blipFill>
        <p:spPr>
          <a:xfrm>
            <a:off x="6500826" y="6143644"/>
            <a:ext cx="2643174" cy="714356"/>
          </a:xfrm>
          <a:prstGeom prst="rect">
            <a:avLst/>
          </a:prstGeom>
        </p:spPr>
      </p:pic>
      <p:sp>
        <p:nvSpPr>
          <p:cNvPr id="5" name="Rectangle 4"/>
          <p:cNvSpPr/>
          <p:nvPr/>
        </p:nvSpPr>
        <p:spPr>
          <a:xfrm>
            <a:off x="428596" y="357166"/>
            <a:ext cx="3857652" cy="369332"/>
          </a:xfrm>
          <a:prstGeom prst="rect">
            <a:avLst/>
          </a:prstGeom>
        </p:spPr>
        <p:txBody>
          <a:bodyPr wrap="square">
            <a:spAutoFit/>
          </a:bodyPr>
          <a:lstStyle/>
          <a:p>
            <a:pPr lvl="0"/>
            <a:r>
              <a:rPr lang="en-US" b="1" dirty="0" smtClean="0">
                <a:solidFill>
                  <a:prstClr val="black"/>
                </a:solidFill>
              </a:rPr>
              <a:t>Why I Choose This Project:</a:t>
            </a:r>
          </a:p>
        </p:txBody>
      </p:sp>
      <p:sp>
        <p:nvSpPr>
          <p:cNvPr id="6" name="TextBox 5"/>
          <p:cNvSpPr txBox="1"/>
          <p:nvPr/>
        </p:nvSpPr>
        <p:spPr>
          <a:xfrm>
            <a:off x="428596" y="1000108"/>
            <a:ext cx="8001056" cy="2308324"/>
          </a:xfrm>
          <a:prstGeom prst="rect">
            <a:avLst/>
          </a:prstGeom>
          <a:noFill/>
        </p:spPr>
        <p:txBody>
          <a:bodyPr wrap="square" rtlCol="0">
            <a:spAutoFit/>
          </a:bodyPr>
          <a:lstStyle/>
          <a:p>
            <a:r>
              <a:rPr lang="en-US" dirty="0" smtClean="0"/>
              <a:t>I chose this project because fast food sales data is closely related to real-life business scenarios.</a:t>
            </a:r>
          </a:p>
          <a:p>
            <a:endParaRPr lang="en-US" dirty="0" smtClean="0"/>
          </a:p>
          <a:p>
            <a:r>
              <a:rPr lang="en-US" dirty="0" smtClean="0"/>
              <a:t>Every food business generates a large amount of sales data, but raw data alone is not useful.</a:t>
            </a:r>
          </a:p>
          <a:p>
            <a:endParaRPr lang="en-US" dirty="0" smtClean="0"/>
          </a:p>
          <a:p>
            <a:r>
              <a:rPr lang="en-US" dirty="0" smtClean="0"/>
              <a:t>Through EDA(Exploratory Data Analysis), we can convert this raw data into meaningful insights that helps in better decision making.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5781" t="6107" r="9375" b="34607"/>
          <a:stretch>
            <a:fillRect/>
          </a:stretch>
        </p:blipFill>
        <p:spPr>
          <a:xfrm>
            <a:off x="6357950" y="6072206"/>
            <a:ext cx="2786050" cy="785794"/>
          </a:xfrm>
          <a:prstGeom prst="rect">
            <a:avLst/>
          </a:prstGeom>
        </p:spPr>
      </p:pic>
      <p:sp>
        <p:nvSpPr>
          <p:cNvPr id="3" name="TextBox 2"/>
          <p:cNvSpPr txBox="1"/>
          <p:nvPr/>
        </p:nvSpPr>
        <p:spPr>
          <a:xfrm>
            <a:off x="357158" y="500042"/>
            <a:ext cx="3643338" cy="584775"/>
          </a:xfrm>
          <a:prstGeom prst="rect">
            <a:avLst/>
          </a:prstGeom>
          <a:noFill/>
        </p:spPr>
        <p:txBody>
          <a:bodyPr wrap="square" rtlCol="0">
            <a:spAutoFit/>
          </a:bodyPr>
          <a:lstStyle/>
          <a:p>
            <a:r>
              <a:rPr lang="en-US" sz="3200" b="1" dirty="0" smtClean="0"/>
              <a:t>Dataset Overview :</a:t>
            </a:r>
            <a:endParaRPr lang="en-US" sz="3200" b="1" dirty="0"/>
          </a:p>
        </p:txBody>
      </p:sp>
      <p:sp>
        <p:nvSpPr>
          <p:cNvPr id="4" name="TextBox 3"/>
          <p:cNvSpPr txBox="1"/>
          <p:nvPr/>
        </p:nvSpPr>
        <p:spPr>
          <a:xfrm>
            <a:off x="428596" y="1285860"/>
            <a:ext cx="8572560" cy="2031325"/>
          </a:xfrm>
          <a:prstGeom prst="rect">
            <a:avLst/>
          </a:prstGeom>
          <a:noFill/>
        </p:spPr>
        <p:txBody>
          <a:bodyPr wrap="square" rtlCol="0">
            <a:spAutoFit/>
          </a:bodyPr>
          <a:lstStyle/>
          <a:p>
            <a:r>
              <a:rPr lang="en-US" dirty="0" smtClean="0"/>
              <a:t>• This dataset contains information such as Order_ID, Date, Item_name, Item_type,</a:t>
            </a:r>
          </a:p>
          <a:p>
            <a:endParaRPr lang="en-US" dirty="0" smtClean="0"/>
          </a:p>
          <a:p>
            <a:r>
              <a:rPr lang="en-US" dirty="0" smtClean="0"/>
              <a:t>   Item_price, Quantity,   Transaction_amount, Transaction_type, Received_by, </a:t>
            </a:r>
          </a:p>
          <a:p>
            <a:endParaRPr lang="en-US" dirty="0" smtClean="0"/>
          </a:p>
          <a:p>
            <a:r>
              <a:rPr lang="en-US" dirty="0" smtClean="0"/>
              <a:t>   Time_of_sale. </a:t>
            </a:r>
          </a:p>
          <a:p>
            <a:endParaRPr lang="en-US" dirty="0" smtClean="0"/>
          </a:p>
          <a:p>
            <a:r>
              <a:rPr lang="en-US" dirty="0" smtClean="0"/>
              <a:t>• The dataset helps us understand what customers buy, when they buy, and how they pay.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5781" t="9242" r="10156" b="40878"/>
          <a:stretch>
            <a:fillRect/>
          </a:stretch>
        </p:blipFill>
        <p:spPr>
          <a:xfrm>
            <a:off x="6643702" y="6072206"/>
            <a:ext cx="2500298" cy="785794"/>
          </a:xfrm>
          <a:prstGeom prst="rect">
            <a:avLst/>
          </a:prstGeom>
        </p:spPr>
      </p:pic>
      <p:sp>
        <p:nvSpPr>
          <p:cNvPr id="4" name="TextBox 3"/>
          <p:cNvSpPr txBox="1"/>
          <p:nvPr/>
        </p:nvSpPr>
        <p:spPr>
          <a:xfrm>
            <a:off x="285720" y="357166"/>
            <a:ext cx="3143272" cy="523220"/>
          </a:xfrm>
          <a:prstGeom prst="rect">
            <a:avLst/>
          </a:prstGeom>
          <a:noFill/>
        </p:spPr>
        <p:txBody>
          <a:bodyPr wrap="square" rtlCol="0">
            <a:spAutoFit/>
          </a:bodyPr>
          <a:lstStyle/>
          <a:p>
            <a:r>
              <a:rPr lang="en-US" sz="2800" b="1" dirty="0" smtClean="0"/>
              <a:t>Reading Dataset :</a:t>
            </a:r>
            <a:endParaRPr lang="en-US" sz="2800" b="1" dirty="0"/>
          </a:p>
        </p:txBody>
      </p:sp>
      <p:pic>
        <p:nvPicPr>
          <p:cNvPr id="7" name="Picture 6" descr="Screenshot 2026-01-01 105248.png"/>
          <p:cNvPicPr>
            <a:picLocks noChangeAspect="1"/>
          </p:cNvPicPr>
          <p:nvPr/>
        </p:nvPicPr>
        <p:blipFill>
          <a:blip r:embed="rId3"/>
          <a:stretch>
            <a:fillRect/>
          </a:stretch>
        </p:blipFill>
        <p:spPr>
          <a:xfrm>
            <a:off x="428596" y="1000108"/>
            <a:ext cx="8358246" cy="50006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5512" r="10156" b="39417"/>
          <a:stretch>
            <a:fillRect/>
          </a:stretch>
        </p:blipFill>
        <p:spPr>
          <a:xfrm>
            <a:off x="7072330" y="6286520"/>
            <a:ext cx="2071670" cy="571480"/>
          </a:xfrm>
          <a:prstGeom prst="rect">
            <a:avLst/>
          </a:prstGeom>
        </p:spPr>
      </p:pic>
      <p:sp>
        <p:nvSpPr>
          <p:cNvPr id="3" name="TextBox 2"/>
          <p:cNvSpPr txBox="1"/>
          <p:nvPr/>
        </p:nvSpPr>
        <p:spPr>
          <a:xfrm>
            <a:off x="142844" y="0"/>
            <a:ext cx="3643338" cy="584775"/>
          </a:xfrm>
          <a:prstGeom prst="rect">
            <a:avLst/>
          </a:prstGeom>
          <a:noFill/>
        </p:spPr>
        <p:txBody>
          <a:bodyPr wrap="square" rtlCol="0">
            <a:spAutoFit/>
          </a:bodyPr>
          <a:lstStyle/>
          <a:p>
            <a:r>
              <a:rPr lang="en-US" sz="3200" b="1" dirty="0" smtClean="0"/>
              <a:t>Basic Checks:</a:t>
            </a:r>
            <a:endParaRPr lang="en-US" sz="3200" b="1" dirty="0"/>
          </a:p>
        </p:txBody>
      </p:sp>
      <p:sp>
        <p:nvSpPr>
          <p:cNvPr id="4" name="TextBox 3"/>
          <p:cNvSpPr txBox="1"/>
          <p:nvPr/>
        </p:nvSpPr>
        <p:spPr>
          <a:xfrm>
            <a:off x="142844" y="500042"/>
            <a:ext cx="3786182" cy="369332"/>
          </a:xfrm>
          <a:prstGeom prst="rect">
            <a:avLst/>
          </a:prstGeom>
          <a:noFill/>
        </p:spPr>
        <p:txBody>
          <a:bodyPr wrap="square" rtlCol="0">
            <a:spAutoFit/>
          </a:bodyPr>
          <a:lstStyle/>
          <a:p>
            <a:r>
              <a:rPr lang="en-IN" sz="1600" b="1" dirty="0" smtClean="0"/>
              <a:t>Columns of the Dataset</a:t>
            </a:r>
            <a:r>
              <a:rPr lang="en-IN" dirty="0" smtClean="0"/>
              <a:t>:</a:t>
            </a:r>
            <a:endParaRPr lang="en-US" dirty="0"/>
          </a:p>
        </p:txBody>
      </p:sp>
      <p:pic>
        <p:nvPicPr>
          <p:cNvPr id="5" name="Picture 4" descr="Screenshot 2026-01-02 123430.png"/>
          <p:cNvPicPr>
            <a:picLocks noChangeAspect="1"/>
          </p:cNvPicPr>
          <p:nvPr/>
        </p:nvPicPr>
        <p:blipFill>
          <a:blip r:embed="rId3"/>
          <a:stretch>
            <a:fillRect/>
          </a:stretch>
        </p:blipFill>
        <p:spPr>
          <a:xfrm>
            <a:off x="214282" y="785794"/>
            <a:ext cx="4357718" cy="1857388"/>
          </a:xfrm>
          <a:prstGeom prst="rect">
            <a:avLst/>
          </a:prstGeom>
        </p:spPr>
      </p:pic>
      <p:sp>
        <p:nvSpPr>
          <p:cNvPr id="6" name="TextBox 5"/>
          <p:cNvSpPr txBox="1"/>
          <p:nvPr/>
        </p:nvSpPr>
        <p:spPr>
          <a:xfrm>
            <a:off x="142844" y="2643182"/>
            <a:ext cx="4055150" cy="369332"/>
          </a:xfrm>
          <a:prstGeom prst="rect">
            <a:avLst/>
          </a:prstGeom>
          <a:noFill/>
        </p:spPr>
        <p:txBody>
          <a:bodyPr wrap="square" rtlCol="0">
            <a:spAutoFit/>
          </a:bodyPr>
          <a:lstStyle/>
          <a:p>
            <a:r>
              <a:rPr lang="en-IN" sz="1600" b="1" dirty="0" smtClean="0"/>
              <a:t>Checking the Structure of the Dataset</a:t>
            </a:r>
            <a:r>
              <a:rPr lang="en-IN" dirty="0" smtClean="0"/>
              <a:t>:</a:t>
            </a:r>
            <a:endParaRPr lang="en-US" dirty="0"/>
          </a:p>
        </p:txBody>
      </p:sp>
      <p:sp>
        <p:nvSpPr>
          <p:cNvPr id="7" name="Rectangle 6"/>
          <p:cNvSpPr/>
          <p:nvPr/>
        </p:nvSpPr>
        <p:spPr>
          <a:xfrm>
            <a:off x="142844" y="500042"/>
            <a:ext cx="4357718" cy="21431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2844" y="2643182"/>
            <a:ext cx="4357718" cy="35004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creenshot 2026-01-02 123518.png"/>
          <p:cNvPicPr>
            <a:picLocks noChangeAspect="1"/>
          </p:cNvPicPr>
          <p:nvPr/>
        </p:nvPicPr>
        <p:blipFill>
          <a:blip r:embed="rId4"/>
          <a:stretch>
            <a:fillRect/>
          </a:stretch>
        </p:blipFill>
        <p:spPr>
          <a:xfrm>
            <a:off x="214282" y="3000373"/>
            <a:ext cx="4214842" cy="3071834"/>
          </a:xfrm>
          <a:prstGeom prst="rect">
            <a:avLst/>
          </a:prstGeom>
        </p:spPr>
      </p:pic>
      <p:sp>
        <p:nvSpPr>
          <p:cNvPr id="10" name="Rectangle 9"/>
          <p:cNvSpPr/>
          <p:nvPr/>
        </p:nvSpPr>
        <p:spPr>
          <a:xfrm>
            <a:off x="4500562" y="500042"/>
            <a:ext cx="4500594" cy="35004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500562" y="500042"/>
            <a:ext cx="5072098" cy="338554"/>
          </a:xfrm>
          <a:prstGeom prst="rect">
            <a:avLst/>
          </a:prstGeom>
          <a:noFill/>
        </p:spPr>
        <p:txBody>
          <a:bodyPr wrap="square" rtlCol="0">
            <a:spAutoFit/>
          </a:bodyPr>
          <a:lstStyle/>
          <a:p>
            <a:r>
              <a:rPr lang="en-US" sz="1600" b="1" dirty="0" smtClean="0"/>
              <a:t>Checking Summary Statistics of Numerical Columns:</a:t>
            </a:r>
            <a:endParaRPr lang="en-US" sz="1600" b="1" dirty="0"/>
          </a:p>
        </p:txBody>
      </p:sp>
      <p:pic>
        <p:nvPicPr>
          <p:cNvPr id="13" name="Picture 12" descr="Screenshot 2026-01-02 124603.png"/>
          <p:cNvPicPr>
            <a:picLocks noChangeAspect="1"/>
          </p:cNvPicPr>
          <p:nvPr/>
        </p:nvPicPr>
        <p:blipFill>
          <a:blip r:embed="rId5"/>
          <a:stretch>
            <a:fillRect/>
          </a:stretch>
        </p:blipFill>
        <p:spPr>
          <a:xfrm>
            <a:off x="4572000" y="785794"/>
            <a:ext cx="4357718" cy="2928958"/>
          </a:xfrm>
          <a:prstGeom prst="rect">
            <a:avLst/>
          </a:prstGeom>
        </p:spPr>
      </p:pic>
      <p:sp>
        <p:nvSpPr>
          <p:cNvPr id="14" name="Rectangle 13"/>
          <p:cNvSpPr/>
          <p:nvPr/>
        </p:nvSpPr>
        <p:spPr>
          <a:xfrm>
            <a:off x="4500562" y="4000504"/>
            <a:ext cx="4500594" cy="21431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4500562" y="4071942"/>
            <a:ext cx="4643438" cy="338554"/>
          </a:xfrm>
          <a:prstGeom prst="rect">
            <a:avLst/>
          </a:prstGeom>
          <a:noFill/>
        </p:spPr>
        <p:txBody>
          <a:bodyPr wrap="square" rtlCol="0">
            <a:spAutoFit/>
          </a:bodyPr>
          <a:lstStyle/>
          <a:p>
            <a:r>
              <a:rPr lang="en-US" sz="1600" b="1" dirty="0" smtClean="0"/>
              <a:t>Checking Summary Statistics of Categorical Columns:</a:t>
            </a:r>
            <a:endParaRPr lang="en-US" sz="1600" b="1" dirty="0"/>
          </a:p>
        </p:txBody>
      </p:sp>
      <p:pic>
        <p:nvPicPr>
          <p:cNvPr id="16" name="Picture 15" descr="Screenshot 2026-01-02 124623.png"/>
          <p:cNvPicPr>
            <a:picLocks noChangeAspect="1"/>
          </p:cNvPicPr>
          <p:nvPr/>
        </p:nvPicPr>
        <p:blipFill>
          <a:blip r:embed="rId6"/>
          <a:stretch>
            <a:fillRect/>
          </a:stretch>
        </p:blipFill>
        <p:spPr>
          <a:xfrm>
            <a:off x="4572000" y="4429132"/>
            <a:ext cx="4357718" cy="16430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2377" r="10156" b="37458"/>
          <a:stretch>
            <a:fillRect/>
          </a:stretch>
        </p:blipFill>
        <p:spPr>
          <a:xfrm>
            <a:off x="7000892" y="6215082"/>
            <a:ext cx="2143108" cy="642918"/>
          </a:xfrm>
          <a:prstGeom prst="rect">
            <a:avLst/>
          </a:prstGeom>
        </p:spPr>
      </p:pic>
      <p:sp>
        <p:nvSpPr>
          <p:cNvPr id="3" name="TextBox 2"/>
          <p:cNvSpPr txBox="1"/>
          <p:nvPr/>
        </p:nvSpPr>
        <p:spPr>
          <a:xfrm>
            <a:off x="214282" y="214290"/>
            <a:ext cx="7500990" cy="461665"/>
          </a:xfrm>
          <a:prstGeom prst="rect">
            <a:avLst/>
          </a:prstGeom>
          <a:noFill/>
        </p:spPr>
        <p:txBody>
          <a:bodyPr wrap="square" rtlCol="0">
            <a:spAutoFit/>
          </a:bodyPr>
          <a:lstStyle/>
          <a:p>
            <a:r>
              <a:rPr lang="en-US" sz="2400" b="1" dirty="0" smtClean="0"/>
              <a:t>Preprocessing Techniques on Dataset Individual Columns:</a:t>
            </a:r>
            <a:endParaRPr lang="en-US" sz="2400" b="1" dirty="0"/>
          </a:p>
        </p:txBody>
      </p:sp>
      <p:sp>
        <p:nvSpPr>
          <p:cNvPr id="4" name="Rectangle 3"/>
          <p:cNvSpPr/>
          <p:nvPr/>
        </p:nvSpPr>
        <p:spPr>
          <a:xfrm>
            <a:off x="357158" y="785794"/>
            <a:ext cx="4000528" cy="39290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57158" y="785794"/>
            <a:ext cx="3214710" cy="369332"/>
          </a:xfrm>
          <a:prstGeom prst="rect">
            <a:avLst/>
          </a:prstGeom>
          <a:noFill/>
        </p:spPr>
        <p:txBody>
          <a:bodyPr wrap="square" rtlCol="0">
            <a:spAutoFit/>
          </a:bodyPr>
          <a:lstStyle/>
          <a:p>
            <a:r>
              <a:rPr lang="en-IN" sz="1600" b="1" dirty="0" smtClean="0"/>
              <a:t>Checking Missing Values</a:t>
            </a:r>
            <a:r>
              <a:rPr lang="en-IN" dirty="0" smtClean="0"/>
              <a:t>:</a:t>
            </a:r>
            <a:endParaRPr lang="en-US" dirty="0"/>
          </a:p>
        </p:txBody>
      </p:sp>
      <p:pic>
        <p:nvPicPr>
          <p:cNvPr id="6" name="Picture 5" descr="Screenshot 2026-01-02 131027.png"/>
          <p:cNvPicPr>
            <a:picLocks noChangeAspect="1"/>
          </p:cNvPicPr>
          <p:nvPr/>
        </p:nvPicPr>
        <p:blipFill>
          <a:blip r:embed="rId3"/>
          <a:stretch>
            <a:fillRect/>
          </a:stretch>
        </p:blipFill>
        <p:spPr>
          <a:xfrm>
            <a:off x="428597" y="1214422"/>
            <a:ext cx="3863604" cy="3429024"/>
          </a:xfrm>
          <a:prstGeom prst="rect">
            <a:avLst/>
          </a:prstGeom>
        </p:spPr>
      </p:pic>
      <p:sp>
        <p:nvSpPr>
          <p:cNvPr id="7" name="Rectangle 6"/>
          <p:cNvSpPr/>
          <p:nvPr/>
        </p:nvSpPr>
        <p:spPr>
          <a:xfrm>
            <a:off x="357158" y="4714884"/>
            <a:ext cx="4000528" cy="1357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57158" y="4714884"/>
            <a:ext cx="2143140" cy="338554"/>
          </a:xfrm>
          <a:prstGeom prst="rect">
            <a:avLst/>
          </a:prstGeom>
          <a:noFill/>
        </p:spPr>
        <p:txBody>
          <a:bodyPr wrap="square" rtlCol="0">
            <a:spAutoFit/>
          </a:bodyPr>
          <a:lstStyle/>
          <a:p>
            <a:r>
              <a:rPr lang="en-US" sz="1600" b="1" dirty="0" smtClean="0"/>
              <a:t>Checking Duplicates:</a:t>
            </a:r>
            <a:endParaRPr lang="en-US" sz="1600" b="1" dirty="0"/>
          </a:p>
        </p:txBody>
      </p:sp>
      <p:pic>
        <p:nvPicPr>
          <p:cNvPr id="10" name="Picture 9" descr="Screenshot 2026-01-02 131319.png"/>
          <p:cNvPicPr>
            <a:picLocks noChangeAspect="1"/>
          </p:cNvPicPr>
          <p:nvPr/>
        </p:nvPicPr>
        <p:blipFill>
          <a:blip r:embed="rId4"/>
          <a:stretch>
            <a:fillRect/>
          </a:stretch>
        </p:blipFill>
        <p:spPr>
          <a:xfrm>
            <a:off x="428596" y="5143512"/>
            <a:ext cx="3214710" cy="762125"/>
          </a:xfrm>
          <a:prstGeom prst="rect">
            <a:avLst/>
          </a:prstGeom>
        </p:spPr>
      </p:pic>
      <p:sp>
        <p:nvSpPr>
          <p:cNvPr id="11" name="Rectangle 10"/>
          <p:cNvSpPr/>
          <p:nvPr/>
        </p:nvSpPr>
        <p:spPr>
          <a:xfrm>
            <a:off x="4500562" y="2643182"/>
            <a:ext cx="4429156" cy="20717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572000" y="2714620"/>
            <a:ext cx="4143404" cy="2031325"/>
          </a:xfrm>
          <a:prstGeom prst="rect">
            <a:avLst/>
          </a:prstGeom>
          <a:noFill/>
        </p:spPr>
        <p:txBody>
          <a:bodyPr wrap="square" rtlCol="0">
            <a:spAutoFit/>
          </a:bodyPr>
          <a:lstStyle/>
          <a:p>
            <a:pPr>
              <a:buFont typeface="Wingdings" pitchFamily="2" charset="2"/>
              <a:buChar char="Ø"/>
            </a:pPr>
            <a:r>
              <a:rPr lang="en-IN" sz="1400" dirty="0" smtClean="0"/>
              <a:t> One Column has missing values.</a:t>
            </a:r>
          </a:p>
          <a:p>
            <a:pPr>
              <a:buFont typeface="Wingdings" pitchFamily="2" charset="2"/>
              <a:buChar char="Ø"/>
            </a:pPr>
            <a:r>
              <a:rPr lang="en-IN" sz="1400" dirty="0" smtClean="0"/>
              <a:t> No Duplicates.</a:t>
            </a:r>
          </a:p>
          <a:p>
            <a:pPr>
              <a:buFont typeface="Wingdings" pitchFamily="2" charset="2"/>
              <a:buChar char="Ø"/>
            </a:pPr>
            <a:endParaRPr lang="en-IN" sz="1400" dirty="0" smtClean="0"/>
          </a:p>
          <a:p>
            <a:pPr>
              <a:buFont typeface="Wingdings" pitchFamily="2" charset="2"/>
              <a:buChar char="Ø"/>
            </a:pPr>
            <a:r>
              <a:rPr lang="en-US" sz="1400" dirty="0" smtClean="0"/>
              <a:t> Now ,I want to perform some Preprocessing Techniques on columns like: </a:t>
            </a:r>
          </a:p>
          <a:p>
            <a:endParaRPr lang="en-US" sz="1400" dirty="0" smtClean="0"/>
          </a:p>
          <a:p>
            <a:r>
              <a:rPr lang="en-US" sz="1400" dirty="0" smtClean="0"/>
              <a:t>✔Handling Missing Values </a:t>
            </a:r>
          </a:p>
          <a:p>
            <a:r>
              <a:rPr lang="en-US" sz="1400" dirty="0" smtClean="0"/>
              <a:t>✔Handling Inconsistence Data </a:t>
            </a:r>
          </a:p>
          <a:p>
            <a:r>
              <a:rPr lang="en-US" sz="1400" dirty="0" smtClean="0"/>
              <a:t>✔Data Type Conversions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2378" r="10156" b="39548"/>
          <a:stretch>
            <a:fillRect/>
          </a:stretch>
        </p:blipFill>
        <p:spPr>
          <a:xfrm>
            <a:off x="6858016" y="6215082"/>
            <a:ext cx="2285984" cy="642918"/>
          </a:xfrm>
          <a:prstGeom prst="rect">
            <a:avLst/>
          </a:prstGeom>
        </p:spPr>
      </p:pic>
      <p:sp>
        <p:nvSpPr>
          <p:cNvPr id="3" name="Rectangle 2"/>
          <p:cNvSpPr/>
          <p:nvPr/>
        </p:nvSpPr>
        <p:spPr>
          <a:xfrm>
            <a:off x="142844" y="142852"/>
            <a:ext cx="4572032" cy="335758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42844" y="214290"/>
            <a:ext cx="2286016" cy="338554"/>
          </a:xfrm>
          <a:prstGeom prst="rect">
            <a:avLst/>
          </a:prstGeom>
          <a:noFill/>
        </p:spPr>
        <p:txBody>
          <a:bodyPr wrap="square" rtlCol="0">
            <a:spAutoFit/>
          </a:bodyPr>
          <a:lstStyle/>
          <a:p>
            <a:r>
              <a:rPr lang="en-IN" sz="1600" b="1" dirty="0" smtClean="0"/>
              <a:t>Handling Missing Values:</a:t>
            </a:r>
            <a:endParaRPr lang="en-US" sz="1600" b="1" dirty="0"/>
          </a:p>
        </p:txBody>
      </p:sp>
      <p:pic>
        <p:nvPicPr>
          <p:cNvPr id="5" name="Picture 4" descr="Screenshot 2026-01-02 143911.png"/>
          <p:cNvPicPr>
            <a:picLocks noChangeAspect="1"/>
          </p:cNvPicPr>
          <p:nvPr/>
        </p:nvPicPr>
        <p:blipFill>
          <a:blip r:embed="rId3"/>
          <a:stretch>
            <a:fillRect/>
          </a:stretch>
        </p:blipFill>
        <p:spPr>
          <a:xfrm>
            <a:off x="214282" y="571480"/>
            <a:ext cx="4429156" cy="2857520"/>
          </a:xfrm>
          <a:prstGeom prst="rect">
            <a:avLst/>
          </a:prstGeom>
        </p:spPr>
      </p:pic>
      <p:sp>
        <p:nvSpPr>
          <p:cNvPr id="6" name="Rectangle 5"/>
          <p:cNvSpPr/>
          <p:nvPr/>
        </p:nvSpPr>
        <p:spPr>
          <a:xfrm>
            <a:off x="142844" y="3500438"/>
            <a:ext cx="4572032" cy="27860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42844" y="3571876"/>
            <a:ext cx="3214710" cy="338554"/>
          </a:xfrm>
          <a:prstGeom prst="rect">
            <a:avLst/>
          </a:prstGeom>
          <a:noFill/>
        </p:spPr>
        <p:txBody>
          <a:bodyPr wrap="square" rtlCol="0">
            <a:spAutoFit/>
          </a:bodyPr>
          <a:lstStyle/>
          <a:p>
            <a:r>
              <a:rPr lang="en-IN" sz="1600" b="1" dirty="0" smtClean="0"/>
              <a:t>Handling Inconsistence Data:</a:t>
            </a:r>
            <a:endParaRPr lang="en-US" sz="1600" b="1" dirty="0"/>
          </a:p>
        </p:txBody>
      </p:sp>
      <p:pic>
        <p:nvPicPr>
          <p:cNvPr id="1026" name="Picture 2"/>
          <p:cNvPicPr>
            <a:picLocks noChangeAspect="1" noChangeArrowheads="1"/>
          </p:cNvPicPr>
          <p:nvPr/>
        </p:nvPicPr>
        <p:blipFill>
          <a:blip r:embed="rId4"/>
          <a:srcRect/>
          <a:stretch>
            <a:fillRect/>
          </a:stretch>
        </p:blipFill>
        <p:spPr bwMode="auto">
          <a:xfrm>
            <a:off x="214282" y="3929066"/>
            <a:ext cx="4429156" cy="2286015"/>
          </a:xfrm>
          <a:prstGeom prst="rect">
            <a:avLst/>
          </a:prstGeom>
          <a:noFill/>
          <a:ln w="9525">
            <a:noFill/>
            <a:miter lim="800000"/>
            <a:headEnd/>
            <a:tailEnd/>
          </a:ln>
          <a:effectLst/>
        </p:spPr>
      </p:pic>
      <p:sp>
        <p:nvSpPr>
          <p:cNvPr id="9" name="TextBox 8"/>
          <p:cNvSpPr txBox="1"/>
          <p:nvPr/>
        </p:nvSpPr>
        <p:spPr>
          <a:xfrm>
            <a:off x="4929190" y="428604"/>
            <a:ext cx="2571768" cy="738664"/>
          </a:xfrm>
          <a:prstGeom prst="rect">
            <a:avLst/>
          </a:prstGeom>
          <a:noFill/>
        </p:spPr>
        <p:txBody>
          <a:bodyPr wrap="square" rtlCol="0">
            <a:spAutoFit/>
          </a:bodyPr>
          <a:lstStyle/>
          <a:p>
            <a:r>
              <a:rPr lang="en-IN" sz="1600" b="1" dirty="0" smtClean="0"/>
              <a:t>Handling missing values:</a:t>
            </a:r>
          </a:p>
          <a:p>
            <a:endParaRPr lang="en-IN" sz="1400" b="1" dirty="0" smtClean="0"/>
          </a:p>
          <a:p>
            <a:endParaRPr lang="en-US" sz="1200" dirty="0"/>
          </a:p>
        </p:txBody>
      </p:sp>
      <p:sp>
        <p:nvSpPr>
          <p:cNvPr id="10" name="TextBox 9"/>
          <p:cNvSpPr txBox="1"/>
          <p:nvPr/>
        </p:nvSpPr>
        <p:spPr>
          <a:xfrm>
            <a:off x="5143504" y="857232"/>
            <a:ext cx="3857652" cy="1169551"/>
          </a:xfrm>
          <a:prstGeom prst="rect">
            <a:avLst/>
          </a:prstGeom>
          <a:noFill/>
        </p:spPr>
        <p:txBody>
          <a:bodyPr wrap="square" rtlCol="0">
            <a:spAutoFit/>
          </a:bodyPr>
          <a:lstStyle/>
          <a:p>
            <a:pPr algn="just"/>
            <a:r>
              <a:rPr lang="en-IN" sz="1400" dirty="0" smtClean="0"/>
              <a:t>Handling missing values means identifying empty or null values in the dataset and treating them properly. Missing values are either filled or removed to avoid errors ans ensure accurate analysis.</a:t>
            </a:r>
            <a:endParaRPr lang="en-US" sz="1400" dirty="0"/>
          </a:p>
        </p:txBody>
      </p:sp>
      <p:sp>
        <p:nvSpPr>
          <p:cNvPr id="11" name="TextBox 10"/>
          <p:cNvSpPr txBox="1"/>
          <p:nvPr/>
        </p:nvSpPr>
        <p:spPr>
          <a:xfrm>
            <a:off x="5000628" y="2214554"/>
            <a:ext cx="3143272" cy="338554"/>
          </a:xfrm>
          <a:prstGeom prst="rect">
            <a:avLst/>
          </a:prstGeom>
          <a:noFill/>
        </p:spPr>
        <p:txBody>
          <a:bodyPr wrap="square" rtlCol="0">
            <a:spAutoFit/>
          </a:bodyPr>
          <a:lstStyle/>
          <a:p>
            <a:r>
              <a:rPr lang="en-IN" sz="1600" b="1" dirty="0" smtClean="0"/>
              <a:t>Handling Inconsistence Data:</a:t>
            </a:r>
            <a:endParaRPr lang="en-US" sz="1600" b="1" dirty="0"/>
          </a:p>
        </p:txBody>
      </p:sp>
      <p:sp>
        <p:nvSpPr>
          <p:cNvPr id="12" name="TextBox 11"/>
          <p:cNvSpPr txBox="1"/>
          <p:nvPr/>
        </p:nvSpPr>
        <p:spPr>
          <a:xfrm>
            <a:off x="5143504" y="2643182"/>
            <a:ext cx="3786214" cy="1169551"/>
          </a:xfrm>
          <a:prstGeom prst="rect">
            <a:avLst/>
          </a:prstGeom>
          <a:noFill/>
        </p:spPr>
        <p:txBody>
          <a:bodyPr wrap="square" rtlCol="0">
            <a:spAutoFit/>
          </a:bodyPr>
          <a:lstStyle/>
          <a:p>
            <a:pPr algn="just"/>
            <a:r>
              <a:rPr lang="en-IN" sz="1400" dirty="0" smtClean="0"/>
              <a:t>Handling inconsistent values means correcting data that represents the same information in different formats or spellings. Standardizing these values makes the data uniform and improves analysis results.</a:t>
            </a:r>
            <a:endParaRPr lang="en-US" sz="1400" dirty="0"/>
          </a:p>
        </p:txBody>
      </p:sp>
      <p:sp>
        <p:nvSpPr>
          <p:cNvPr id="13" name="TextBox 12"/>
          <p:cNvSpPr txBox="1"/>
          <p:nvPr/>
        </p:nvSpPr>
        <p:spPr>
          <a:xfrm>
            <a:off x="5072066" y="4143380"/>
            <a:ext cx="2428892" cy="338554"/>
          </a:xfrm>
          <a:prstGeom prst="rect">
            <a:avLst/>
          </a:prstGeom>
          <a:noFill/>
        </p:spPr>
        <p:txBody>
          <a:bodyPr wrap="square" rtlCol="0">
            <a:spAutoFit/>
          </a:bodyPr>
          <a:lstStyle/>
          <a:p>
            <a:r>
              <a:rPr lang="en-IN" sz="1600" b="1" dirty="0" smtClean="0"/>
              <a:t>Data Type Conversions:</a:t>
            </a:r>
            <a:endParaRPr lang="en-US" sz="1600" b="1" dirty="0"/>
          </a:p>
        </p:txBody>
      </p:sp>
      <p:sp>
        <p:nvSpPr>
          <p:cNvPr id="14" name="TextBox 13"/>
          <p:cNvSpPr txBox="1"/>
          <p:nvPr/>
        </p:nvSpPr>
        <p:spPr>
          <a:xfrm>
            <a:off x="5072066" y="4572008"/>
            <a:ext cx="3786214" cy="1169551"/>
          </a:xfrm>
          <a:prstGeom prst="rect">
            <a:avLst/>
          </a:prstGeom>
          <a:noFill/>
        </p:spPr>
        <p:txBody>
          <a:bodyPr wrap="square" rtlCol="0">
            <a:spAutoFit/>
          </a:bodyPr>
          <a:lstStyle/>
          <a:p>
            <a:pPr algn="just"/>
            <a:r>
              <a:rPr lang="en-IN" sz="1400" dirty="0" smtClean="0"/>
              <a:t>Data type conversion invloves changing string values into appropriate data types such as numeric or datetime. This helps in correct calculations, proper visualization, and error free analysis.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2378" r="9375" b="39548"/>
          <a:stretch>
            <a:fillRect/>
          </a:stretch>
        </p:blipFill>
        <p:spPr>
          <a:xfrm>
            <a:off x="7072330" y="6215082"/>
            <a:ext cx="2071670" cy="642918"/>
          </a:xfrm>
          <a:prstGeom prst="rect">
            <a:avLst/>
          </a:prstGeom>
        </p:spPr>
      </p:pic>
      <p:sp>
        <p:nvSpPr>
          <p:cNvPr id="3" name="Rectangle 2"/>
          <p:cNvSpPr/>
          <p:nvPr/>
        </p:nvSpPr>
        <p:spPr>
          <a:xfrm>
            <a:off x="142844" y="142852"/>
            <a:ext cx="4214842" cy="29289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pic>
        <p:nvPicPr>
          <p:cNvPr id="2050" name="Picture 2"/>
          <p:cNvPicPr>
            <a:picLocks noChangeAspect="1" noChangeArrowheads="1"/>
          </p:cNvPicPr>
          <p:nvPr/>
        </p:nvPicPr>
        <p:blipFill>
          <a:blip r:embed="rId3"/>
          <a:srcRect/>
          <a:stretch>
            <a:fillRect/>
          </a:stretch>
        </p:blipFill>
        <p:spPr bwMode="auto">
          <a:xfrm>
            <a:off x="214282" y="500042"/>
            <a:ext cx="4071966" cy="2500330"/>
          </a:xfrm>
          <a:prstGeom prst="rect">
            <a:avLst/>
          </a:prstGeom>
          <a:noFill/>
          <a:ln w="9525">
            <a:noFill/>
            <a:miter lim="800000"/>
            <a:headEnd/>
            <a:tailEnd/>
          </a:ln>
          <a:effectLst/>
        </p:spPr>
      </p:pic>
      <p:sp>
        <p:nvSpPr>
          <p:cNvPr id="5" name="TextBox 4"/>
          <p:cNvSpPr txBox="1"/>
          <p:nvPr/>
        </p:nvSpPr>
        <p:spPr>
          <a:xfrm>
            <a:off x="142844" y="142852"/>
            <a:ext cx="2714644" cy="338554"/>
          </a:xfrm>
          <a:prstGeom prst="rect">
            <a:avLst/>
          </a:prstGeom>
          <a:noFill/>
        </p:spPr>
        <p:txBody>
          <a:bodyPr wrap="square" rtlCol="0">
            <a:spAutoFit/>
          </a:bodyPr>
          <a:lstStyle/>
          <a:p>
            <a:r>
              <a:rPr lang="en-IN" sz="1600" b="1" dirty="0" smtClean="0"/>
              <a:t>Data Type Conversions:</a:t>
            </a:r>
            <a:endParaRPr lang="en-US" sz="1600" b="1" dirty="0"/>
          </a:p>
        </p:txBody>
      </p:sp>
      <p:sp>
        <p:nvSpPr>
          <p:cNvPr id="6" name="Rectangle 5"/>
          <p:cNvSpPr/>
          <p:nvPr/>
        </p:nvSpPr>
        <p:spPr>
          <a:xfrm>
            <a:off x="4572000" y="142852"/>
            <a:ext cx="4429156" cy="29289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p:cNvPicPr>
            <a:picLocks noChangeAspect="1" noChangeArrowheads="1"/>
          </p:cNvPicPr>
          <p:nvPr/>
        </p:nvPicPr>
        <p:blipFill>
          <a:blip r:embed="rId4"/>
          <a:srcRect/>
          <a:stretch>
            <a:fillRect/>
          </a:stretch>
        </p:blipFill>
        <p:spPr bwMode="auto">
          <a:xfrm>
            <a:off x="4643438" y="214290"/>
            <a:ext cx="4214842" cy="2786082"/>
          </a:xfrm>
          <a:prstGeom prst="rect">
            <a:avLst/>
          </a:prstGeom>
          <a:noFill/>
          <a:ln w="9525">
            <a:noFill/>
            <a:miter lim="800000"/>
            <a:headEnd/>
            <a:tailEnd/>
          </a:ln>
          <a:effectLst/>
        </p:spPr>
      </p:pic>
      <p:sp>
        <p:nvSpPr>
          <p:cNvPr id="8" name="Rectangle 7"/>
          <p:cNvSpPr/>
          <p:nvPr/>
        </p:nvSpPr>
        <p:spPr>
          <a:xfrm>
            <a:off x="142844" y="3214686"/>
            <a:ext cx="4214842" cy="28575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p:cNvPicPr>
            <a:picLocks noChangeAspect="1" noChangeArrowheads="1"/>
          </p:cNvPicPr>
          <p:nvPr/>
        </p:nvPicPr>
        <p:blipFill>
          <a:blip r:embed="rId5"/>
          <a:srcRect/>
          <a:stretch>
            <a:fillRect/>
          </a:stretch>
        </p:blipFill>
        <p:spPr bwMode="auto">
          <a:xfrm>
            <a:off x="214282" y="3500438"/>
            <a:ext cx="4071966" cy="2571768"/>
          </a:xfrm>
          <a:prstGeom prst="rect">
            <a:avLst/>
          </a:prstGeom>
          <a:noFill/>
          <a:ln w="9525">
            <a:noFill/>
            <a:miter lim="800000"/>
            <a:headEnd/>
            <a:tailEnd/>
          </a:ln>
          <a:effectLst/>
        </p:spPr>
      </p:pic>
      <p:sp>
        <p:nvSpPr>
          <p:cNvPr id="10" name="TextBox 9"/>
          <p:cNvSpPr txBox="1"/>
          <p:nvPr/>
        </p:nvSpPr>
        <p:spPr>
          <a:xfrm>
            <a:off x="142844" y="3214686"/>
            <a:ext cx="2143140" cy="338554"/>
          </a:xfrm>
          <a:prstGeom prst="rect">
            <a:avLst/>
          </a:prstGeom>
          <a:noFill/>
        </p:spPr>
        <p:txBody>
          <a:bodyPr wrap="square" rtlCol="0">
            <a:spAutoFit/>
          </a:bodyPr>
          <a:lstStyle/>
          <a:p>
            <a:r>
              <a:rPr lang="en-IN" sz="1600" b="1" dirty="0" smtClean="0"/>
              <a:t>After Conversion:</a:t>
            </a:r>
            <a:endParaRPr lang="en-US" sz="1600" b="1" dirty="0"/>
          </a:p>
        </p:txBody>
      </p:sp>
      <p:cxnSp>
        <p:nvCxnSpPr>
          <p:cNvPr id="12" name="Straight Arrow Connector 11"/>
          <p:cNvCxnSpPr>
            <a:stCxn id="3" idx="3"/>
            <a:endCxn id="6" idx="1"/>
          </p:cNvCxnSpPr>
          <p:nvPr/>
        </p:nvCxnSpPr>
        <p:spPr>
          <a:xfrm>
            <a:off x="4357686" y="1607331"/>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572000" y="3214686"/>
            <a:ext cx="4429156" cy="28575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a:off x="4357686" y="4500570"/>
            <a:ext cx="214314"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2053" name="Picture 5"/>
          <p:cNvPicPr>
            <a:picLocks noChangeAspect="1" noChangeArrowheads="1"/>
          </p:cNvPicPr>
          <p:nvPr/>
        </p:nvPicPr>
        <p:blipFill>
          <a:blip r:embed="rId6"/>
          <a:srcRect/>
          <a:stretch>
            <a:fillRect/>
          </a:stretch>
        </p:blipFill>
        <p:spPr bwMode="auto">
          <a:xfrm>
            <a:off x="4643438" y="3286124"/>
            <a:ext cx="4286280" cy="2714644"/>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5781" t="9242" r="9375" b="34769"/>
          <a:stretch>
            <a:fillRect/>
          </a:stretch>
        </p:blipFill>
        <p:spPr>
          <a:xfrm>
            <a:off x="7143768" y="6286520"/>
            <a:ext cx="2000232" cy="571480"/>
          </a:xfrm>
          <a:prstGeom prst="rect">
            <a:avLst/>
          </a:prstGeom>
        </p:spPr>
      </p:pic>
      <p:sp>
        <p:nvSpPr>
          <p:cNvPr id="3" name="Rectangle 2"/>
          <p:cNvSpPr/>
          <p:nvPr/>
        </p:nvSpPr>
        <p:spPr>
          <a:xfrm>
            <a:off x="142844" y="142852"/>
            <a:ext cx="2500330" cy="30003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000232" y="3143248"/>
            <a:ext cx="2500330" cy="30718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4143372" y="142852"/>
            <a:ext cx="2643206" cy="30003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357950" y="3143248"/>
            <a:ext cx="2643206" cy="30718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p:cNvPicPr>
            <a:picLocks noChangeAspect="1" noChangeArrowheads="1"/>
          </p:cNvPicPr>
          <p:nvPr/>
        </p:nvPicPr>
        <p:blipFill>
          <a:blip r:embed="rId3"/>
          <a:srcRect/>
          <a:stretch>
            <a:fillRect/>
          </a:stretch>
        </p:blipFill>
        <p:spPr bwMode="auto">
          <a:xfrm>
            <a:off x="214282" y="214291"/>
            <a:ext cx="2214578" cy="2857519"/>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2071670" y="3214686"/>
            <a:ext cx="2357454" cy="2928958"/>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4214810" y="214290"/>
            <a:ext cx="2357454" cy="2857520"/>
          </a:xfrm>
          <a:prstGeom prst="rect">
            <a:avLst/>
          </a:prstGeom>
          <a:noFill/>
          <a:ln w="9525">
            <a:noFill/>
            <a:miter lim="800000"/>
            <a:headEnd/>
            <a:tailEnd/>
          </a:ln>
          <a:effectLst/>
        </p:spPr>
      </p:pic>
      <p:pic>
        <p:nvPicPr>
          <p:cNvPr id="3078" name="Picture 6"/>
          <p:cNvPicPr>
            <a:picLocks noChangeAspect="1" noChangeArrowheads="1"/>
          </p:cNvPicPr>
          <p:nvPr/>
        </p:nvPicPr>
        <p:blipFill>
          <a:blip r:embed="rId6"/>
          <a:srcRect/>
          <a:stretch>
            <a:fillRect/>
          </a:stretch>
        </p:blipFill>
        <p:spPr bwMode="auto">
          <a:xfrm>
            <a:off x="6429388" y="3214686"/>
            <a:ext cx="2500330" cy="2928958"/>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2378" r="10937" b="33538"/>
          <a:stretch>
            <a:fillRect/>
          </a:stretch>
        </p:blipFill>
        <p:spPr>
          <a:xfrm>
            <a:off x="7143768" y="6286520"/>
            <a:ext cx="2000232" cy="571480"/>
          </a:xfrm>
          <a:prstGeom prst="rect">
            <a:avLst/>
          </a:prstGeom>
        </p:spPr>
      </p:pic>
      <p:sp>
        <p:nvSpPr>
          <p:cNvPr id="3" name="Rectangle 2"/>
          <p:cNvSpPr/>
          <p:nvPr/>
        </p:nvSpPr>
        <p:spPr>
          <a:xfrm>
            <a:off x="142844" y="142852"/>
            <a:ext cx="8858312" cy="42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14282" y="142852"/>
            <a:ext cx="5500726" cy="400110"/>
          </a:xfrm>
          <a:prstGeom prst="rect">
            <a:avLst/>
          </a:prstGeom>
          <a:noFill/>
        </p:spPr>
        <p:txBody>
          <a:bodyPr wrap="square" rtlCol="0">
            <a:spAutoFit/>
          </a:bodyPr>
          <a:lstStyle/>
          <a:p>
            <a:r>
              <a:rPr lang="en-IN" sz="2000" b="1" dirty="0" smtClean="0"/>
              <a:t>Data Analysis </a:t>
            </a:r>
            <a:r>
              <a:rPr lang="en-US" sz="2000" b="1" dirty="0" smtClean="0"/>
              <a:t>through Visualizations:</a:t>
            </a:r>
            <a:endParaRPr lang="en-US" sz="2000" b="1" dirty="0"/>
          </a:p>
        </p:txBody>
      </p:sp>
      <p:sp>
        <p:nvSpPr>
          <p:cNvPr id="5" name="Rectangle 4"/>
          <p:cNvSpPr/>
          <p:nvPr/>
        </p:nvSpPr>
        <p:spPr>
          <a:xfrm>
            <a:off x="142844" y="642918"/>
            <a:ext cx="8858312" cy="3571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42844" y="642918"/>
            <a:ext cx="2500330" cy="369332"/>
          </a:xfrm>
          <a:prstGeom prst="rect">
            <a:avLst/>
          </a:prstGeom>
          <a:noFill/>
        </p:spPr>
        <p:txBody>
          <a:bodyPr wrap="square" rtlCol="0">
            <a:spAutoFit/>
          </a:bodyPr>
          <a:lstStyle/>
          <a:p>
            <a:r>
              <a:rPr lang="en-US" b="1" dirty="0" smtClean="0"/>
              <a:t>Univariate Analysis:</a:t>
            </a:r>
            <a:endParaRPr lang="en-US" b="1" dirty="0"/>
          </a:p>
        </p:txBody>
      </p:sp>
      <p:sp>
        <p:nvSpPr>
          <p:cNvPr id="8" name="Rectangle 7"/>
          <p:cNvSpPr/>
          <p:nvPr/>
        </p:nvSpPr>
        <p:spPr>
          <a:xfrm>
            <a:off x="142844" y="1071546"/>
            <a:ext cx="4429156" cy="36433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643438" y="1071546"/>
            <a:ext cx="4357718" cy="364333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p:cNvPicPr>
            <a:picLocks noChangeAspect="1" noChangeArrowheads="1"/>
          </p:cNvPicPr>
          <p:nvPr/>
        </p:nvPicPr>
        <p:blipFill>
          <a:blip r:embed="rId3"/>
          <a:srcRect/>
          <a:stretch>
            <a:fillRect/>
          </a:stretch>
        </p:blipFill>
        <p:spPr bwMode="auto">
          <a:xfrm>
            <a:off x="214282" y="1785926"/>
            <a:ext cx="4286280" cy="2857520"/>
          </a:xfrm>
          <a:prstGeom prst="rect">
            <a:avLst/>
          </a:prstGeom>
          <a:noFill/>
          <a:ln w="9525">
            <a:noFill/>
            <a:miter lim="800000"/>
            <a:headEnd/>
            <a:tailEnd/>
          </a:ln>
          <a:effectLst/>
        </p:spPr>
      </p:pic>
      <p:pic>
        <p:nvPicPr>
          <p:cNvPr id="4101" name="Picture 5"/>
          <p:cNvPicPr>
            <a:picLocks noChangeAspect="1" noChangeArrowheads="1"/>
          </p:cNvPicPr>
          <p:nvPr/>
        </p:nvPicPr>
        <p:blipFill>
          <a:blip r:embed="rId4"/>
          <a:srcRect/>
          <a:stretch>
            <a:fillRect/>
          </a:stretch>
        </p:blipFill>
        <p:spPr bwMode="auto">
          <a:xfrm>
            <a:off x="214282" y="1142984"/>
            <a:ext cx="2286016" cy="642942"/>
          </a:xfrm>
          <a:prstGeom prst="rect">
            <a:avLst/>
          </a:prstGeom>
          <a:noFill/>
          <a:ln w="9525">
            <a:noFill/>
            <a:miter lim="800000"/>
            <a:headEnd/>
            <a:tailEnd/>
          </a:ln>
          <a:effectLst/>
        </p:spPr>
      </p:pic>
      <p:pic>
        <p:nvPicPr>
          <p:cNvPr id="4102" name="Picture 6"/>
          <p:cNvPicPr>
            <a:picLocks noChangeAspect="1" noChangeArrowheads="1"/>
          </p:cNvPicPr>
          <p:nvPr/>
        </p:nvPicPr>
        <p:blipFill>
          <a:blip r:embed="rId5"/>
          <a:srcRect t="3030"/>
          <a:stretch>
            <a:fillRect/>
          </a:stretch>
        </p:blipFill>
        <p:spPr bwMode="auto">
          <a:xfrm>
            <a:off x="4714876" y="2357430"/>
            <a:ext cx="4214842" cy="2286016"/>
          </a:xfrm>
          <a:prstGeom prst="rect">
            <a:avLst/>
          </a:prstGeom>
          <a:noFill/>
          <a:ln w="9525">
            <a:noFill/>
            <a:miter lim="800000"/>
            <a:headEnd/>
            <a:tailEnd/>
          </a:ln>
          <a:effectLst/>
        </p:spPr>
      </p:pic>
      <p:pic>
        <p:nvPicPr>
          <p:cNvPr id="4103" name="Picture 7"/>
          <p:cNvPicPr>
            <a:picLocks noChangeAspect="1" noChangeArrowheads="1"/>
          </p:cNvPicPr>
          <p:nvPr/>
        </p:nvPicPr>
        <p:blipFill>
          <a:blip r:embed="rId6"/>
          <a:srcRect/>
          <a:stretch>
            <a:fillRect/>
          </a:stretch>
        </p:blipFill>
        <p:spPr bwMode="auto">
          <a:xfrm>
            <a:off x="4714876" y="1142984"/>
            <a:ext cx="2214578" cy="1143008"/>
          </a:xfrm>
          <a:prstGeom prst="rect">
            <a:avLst/>
          </a:prstGeom>
          <a:noFill/>
          <a:ln w="9525">
            <a:noFill/>
            <a:miter lim="800000"/>
            <a:headEnd/>
            <a:tailEnd/>
          </a:ln>
          <a:effectLst/>
        </p:spPr>
      </p:pic>
      <p:sp>
        <p:nvSpPr>
          <p:cNvPr id="16" name="Rectangle 15"/>
          <p:cNvSpPr/>
          <p:nvPr/>
        </p:nvSpPr>
        <p:spPr>
          <a:xfrm>
            <a:off x="142844" y="4786322"/>
            <a:ext cx="4429156" cy="1428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4643438" y="4786322"/>
            <a:ext cx="4357718" cy="1428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214282" y="4643446"/>
            <a:ext cx="4286280" cy="1354217"/>
          </a:xfrm>
          <a:prstGeom prst="rect">
            <a:avLst/>
          </a:prstGeom>
          <a:noFill/>
        </p:spPr>
        <p:txBody>
          <a:bodyPr wrap="square" rtlCol="0">
            <a:spAutoFit/>
          </a:bodyPr>
          <a:lstStyle/>
          <a:p>
            <a:pPr algn="just"/>
            <a:endParaRPr lang="en-US" sz="1400" dirty="0" smtClean="0"/>
          </a:p>
          <a:p>
            <a:r>
              <a:rPr lang="en-US" sz="1400" dirty="0" smtClean="0"/>
              <a:t>The chart shows the number of items in two categories. Fast food has more items than beverages. Beverages have a smaller count. This means fast food items are available in greater quantity.</a:t>
            </a:r>
          </a:p>
          <a:p>
            <a:pPr algn="just"/>
            <a:endParaRPr lang="en-US" sz="1200" dirty="0"/>
          </a:p>
        </p:txBody>
      </p:sp>
      <p:sp>
        <p:nvSpPr>
          <p:cNvPr id="20" name="TextBox 19"/>
          <p:cNvSpPr txBox="1"/>
          <p:nvPr/>
        </p:nvSpPr>
        <p:spPr>
          <a:xfrm>
            <a:off x="4714876" y="4857761"/>
            <a:ext cx="4143404" cy="1661993"/>
          </a:xfrm>
          <a:prstGeom prst="rect">
            <a:avLst/>
          </a:prstGeom>
          <a:noFill/>
        </p:spPr>
        <p:txBody>
          <a:bodyPr wrap="square" rtlCol="0">
            <a:spAutoFit/>
          </a:bodyPr>
          <a:lstStyle/>
          <a:p>
            <a:pPr algn="just"/>
            <a:r>
              <a:rPr lang="en-US" sz="1400" dirty="0" smtClean="0"/>
              <a:t>This bar chart shows the number of orders for different food items. Cold coffee has the highest number of orders. Sandwich has the lowest number of orders. The remaining items have a similar number of orders. This shows which items are ordered more and less by customers.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42852"/>
            <a:ext cx="4143404" cy="1643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5"/>
          <p:cNvPicPr>
            <a:picLocks noChangeAspect="1" noChangeArrowheads="1"/>
          </p:cNvPicPr>
          <p:nvPr/>
        </p:nvPicPr>
        <p:blipFill>
          <a:blip r:embed="rId2"/>
          <a:srcRect/>
          <a:stretch>
            <a:fillRect/>
          </a:stretch>
        </p:blipFill>
        <p:spPr bwMode="auto">
          <a:xfrm>
            <a:off x="285720" y="214290"/>
            <a:ext cx="3286148" cy="1500198"/>
          </a:xfrm>
          <a:prstGeom prst="rect">
            <a:avLst/>
          </a:prstGeom>
          <a:noFill/>
          <a:ln w="9525">
            <a:noFill/>
            <a:miter lim="800000"/>
            <a:headEnd/>
            <a:tailEnd/>
          </a:ln>
          <a:effectLst/>
        </p:spPr>
      </p:pic>
      <p:pic>
        <p:nvPicPr>
          <p:cNvPr id="4" name="Picture 3" descr="Screenshot 2025-12-25 135022.png"/>
          <p:cNvPicPr>
            <a:picLocks noChangeAspect="1"/>
          </p:cNvPicPr>
          <p:nvPr/>
        </p:nvPicPr>
        <p:blipFill>
          <a:blip r:embed="rId3" cstate="print"/>
          <a:srcRect l="26562" t="9242" r="10937" b="40592"/>
          <a:stretch>
            <a:fillRect/>
          </a:stretch>
        </p:blipFill>
        <p:spPr>
          <a:xfrm>
            <a:off x="6929422" y="6215058"/>
            <a:ext cx="2214578" cy="642942"/>
          </a:xfrm>
          <a:prstGeom prst="rect">
            <a:avLst/>
          </a:prstGeom>
        </p:spPr>
      </p:pic>
      <p:sp>
        <p:nvSpPr>
          <p:cNvPr id="5" name="Rectangle 4"/>
          <p:cNvSpPr/>
          <p:nvPr/>
        </p:nvSpPr>
        <p:spPr>
          <a:xfrm>
            <a:off x="142844" y="1857364"/>
            <a:ext cx="4143404" cy="30718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4"/>
          <a:srcRect/>
          <a:stretch>
            <a:fillRect/>
          </a:stretch>
        </p:blipFill>
        <p:spPr bwMode="auto">
          <a:xfrm>
            <a:off x="214282" y="2000240"/>
            <a:ext cx="3857652" cy="2857520"/>
          </a:xfrm>
          <a:prstGeom prst="rect">
            <a:avLst/>
          </a:prstGeom>
          <a:noFill/>
          <a:ln w="9525">
            <a:noFill/>
            <a:miter lim="800000"/>
            <a:headEnd/>
            <a:tailEnd/>
          </a:ln>
          <a:effectLst/>
        </p:spPr>
      </p:pic>
      <p:sp>
        <p:nvSpPr>
          <p:cNvPr id="7" name="Rectangle 6"/>
          <p:cNvSpPr/>
          <p:nvPr/>
        </p:nvSpPr>
        <p:spPr>
          <a:xfrm>
            <a:off x="4429124" y="142852"/>
            <a:ext cx="4500594" cy="47863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2844" y="5072074"/>
            <a:ext cx="4143404"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7" name="Picture 3"/>
          <p:cNvPicPr>
            <a:picLocks noChangeAspect="1" noChangeArrowheads="1"/>
          </p:cNvPicPr>
          <p:nvPr/>
        </p:nvPicPr>
        <p:blipFill>
          <a:blip r:embed="rId5"/>
          <a:srcRect/>
          <a:stretch>
            <a:fillRect/>
          </a:stretch>
        </p:blipFill>
        <p:spPr bwMode="auto">
          <a:xfrm>
            <a:off x="4500562" y="285728"/>
            <a:ext cx="4357718" cy="4572032"/>
          </a:xfrm>
          <a:prstGeom prst="rect">
            <a:avLst/>
          </a:prstGeom>
          <a:noFill/>
          <a:ln w="9525">
            <a:noFill/>
            <a:miter lim="800000"/>
            <a:headEnd/>
            <a:tailEnd/>
          </a:ln>
          <a:effectLst/>
        </p:spPr>
      </p:pic>
      <p:sp>
        <p:nvSpPr>
          <p:cNvPr id="10" name="Rectangle 9"/>
          <p:cNvSpPr/>
          <p:nvPr/>
        </p:nvSpPr>
        <p:spPr>
          <a:xfrm>
            <a:off x="4429124" y="5072074"/>
            <a:ext cx="4500594"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214282" y="5143512"/>
            <a:ext cx="3786214" cy="738664"/>
          </a:xfrm>
          <a:prstGeom prst="rect">
            <a:avLst/>
          </a:prstGeom>
          <a:noFill/>
        </p:spPr>
        <p:txBody>
          <a:bodyPr wrap="square" rtlCol="0">
            <a:spAutoFit/>
          </a:bodyPr>
          <a:lstStyle/>
          <a:p>
            <a:pPr algn="just"/>
            <a:r>
              <a:rPr lang="en-US" sz="1400" dirty="0" smtClean="0"/>
              <a:t>This chart shows how much money people spend. Most people spend a small to medium amount. Only a few people spend a lot of money.</a:t>
            </a:r>
            <a:endParaRPr lang="en-US" sz="1400" dirty="0"/>
          </a:p>
        </p:txBody>
      </p:sp>
      <p:sp>
        <p:nvSpPr>
          <p:cNvPr id="13" name="TextBox 12"/>
          <p:cNvSpPr txBox="1"/>
          <p:nvPr/>
        </p:nvSpPr>
        <p:spPr>
          <a:xfrm>
            <a:off x="4500562" y="5143512"/>
            <a:ext cx="4071966" cy="1231106"/>
          </a:xfrm>
          <a:prstGeom prst="rect">
            <a:avLst/>
          </a:prstGeom>
          <a:noFill/>
        </p:spPr>
        <p:txBody>
          <a:bodyPr wrap="square" rtlCol="0">
            <a:spAutoFit/>
          </a:bodyPr>
          <a:lstStyle/>
          <a:p>
            <a:r>
              <a:rPr lang="en-US" sz="1400" dirty="0" smtClean="0"/>
              <a:t>This chart shows the prices of items.</a:t>
            </a:r>
            <a:br>
              <a:rPr lang="en-US" sz="1400" dirty="0" smtClean="0"/>
            </a:br>
            <a:r>
              <a:rPr lang="en-US" sz="1400" dirty="0" smtClean="0"/>
              <a:t>Most item prices are spread across different ranges, showing there are both low-priced and high-priced items.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5781" t="9242" r="10156" b="38503"/>
          <a:stretch>
            <a:fillRect/>
          </a:stretch>
        </p:blipFill>
        <p:spPr>
          <a:xfrm>
            <a:off x="7072330" y="6215082"/>
            <a:ext cx="2071670" cy="642918"/>
          </a:xfrm>
          <a:prstGeom prst="rect">
            <a:avLst/>
          </a:prstGeom>
        </p:spPr>
      </p:pic>
      <p:sp>
        <p:nvSpPr>
          <p:cNvPr id="3" name="Rectangle 2"/>
          <p:cNvSpPr/>
          <p:nvPr/>
        </p:nvSpPr>
        <p:spPr>
          <a:xfrm>
            <a:off x="142844" y="142852"/>
            <a:ext cx="4214842" cy="47863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42844" y="5000636"/>
            <a:ext cx="4214842"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p:cNvPicPr>
            <a:picLocks noChangeAspect="1" noChangeArrowheads="1"/>
          </p:cNvPicPr>
          <p:nvPr/>
        </p:nvPicPr>
        <p:blipFill>
          <a:blip r:embed="rId3"/>
          <a:srcRect/>
          <a:stretch>
            <a:fillRect/>
          </a:stretch>
        </p:blipFill>
        <p:spPr bwMode="auto">
          <a:xfrm>
            <a:off x="214282" y="214290"/>
            <a:ext cx="1571636" cy="1643074"/>
          </a:xfrm>
          <a:prstGeom prst="rect">
            <a:avLst/>
          </a:prstGeom>
          <a:noFill/>
          <a:ln w="9525">
            <a:noFill/>
            <a:miter lim="800000"/>
            <a:headEnd/>
            <a:tailEnd/>
          </a:ln>
          <a:effectLst/>
        </p:spPr>
      </p:pic>
      <p:pic>
        <p:nvPicPr>
          <p:cNvPr id="5123" name="Picture 3"/>
          <p:cNvPicPr>
            <a:picLocks noChangeAspect="1" noChangeArrowheads="1"/>
          </p:cNvPicPr>
          <p:nvPr/>
        </p:nvPicPr>
        <p:blipFill>
          <a:blip r:embed="rId4"/>
          <a:srcRect/>
          <a:stretch>
            <a:fillRect/>
          </a:stretch>
        </p:blipFill>
        <p:spPr bwMode="auto">
          <a:xfrm>
            <a:off x="357158" y="2000240"/>
            <a:ext cx="3714776" cy="2643206"/>
          </a:xfrm>
          <a:prstGeom prst="rect">
            <a:avLst/>
          </a:prstGeom>
          <a:noFill/>
          <a:ln w="9525">
            <a:noFill/>
            <a:miter lim="800000"/>
            <a:headEnd/>
            <a:tailEnd/>
          </a:ln>
          <a:effectLst/>
        </p:spPr>
      </p:pic>
      <p:sp>
        <p:nvSpPr>
          <p:cNvPr id="11" name="Rectangle 10"/>
          <p:cNvSpPr/>
          <p:nvPr/>
        </p:nvSpPr>
        <p:spPr>
          <a:xfrm>
            <a:off x="4500562" y="142852"/>
            <a:ext cx="4500594" cy="47863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6" name="Picture 6"/>
          <p:cNvPicPr>
            <a:picLocks noChangeAspect="1" noChangeArrowheads="1"/>
          </p:cNvPicPr>
          <p:nvPr/>
        </p:nvPicPr>
        <p:blipFill>
          <a:blip r:embed="rId5"/>
          <a:srcRect/>
          <a:stretch>
            <a:fillRect/>
          </a:stretch>
        </p:blipFill>
        <p:spPr bwMode="auto">
          <a:xfrm>
            <a:off x="4572000" y="214290"/>
            <a:ext cx="2071702" cy="857256"/>
          </a:xfrm>
          <a:prstGeom prst="rect">
            <a:avLst/>
          </a:prstGeom>
          <a:noFill/>
          <a:ln w="9525">
            <a:noFill/>
            <a:miter lim="800000"/>
            <a:headEnd/>
            <a:tailEnd/>
          </a:ln>
          <a:effectLst/>
        </p:spPr>
      </p:pic>
      <p:sp>
        <p:nvSpPr>
          <p:cNvPr id="13" name="Rectangle 12"/>
          <p:cNvSpPr/>
          <p:nvPr/>
        </p:nvSpPr>
        <p:spPr>
          <a:xfrm>
            <a:off x="4500562" y="5000636"/>
            <a:ext cx="4500594" cy="1000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7" name="Picture 7"/>
          <p:cNvPicPr>
            <a:picLocks noChangeAspect="1" noChangeArrowheads="1"/>
          </p:cNvPicPr>
          <p:nvPr/>
        </p:nvPicPr>
        <p:blipFill>
          <a:blip r:embed="rId6"/>
          <a:srcRect/>
          <a:stretch>
            <a:fillRect/>
          </a:stretch>
        </p:blipFill>
        <p:spPr bwMode="auto">
          <a:xfrm>
            <a:off x="4572000" y="1142984"/>
            <a:ext cx="4357718" cy="3643338"/>
          </a:xfrm>
          <a:prstGeom prst="rect">
            <a:avLst/>
          </a:prstGeom>
          <a:noFill/>
          <a:ln w="9525">
            <a:noFill/>
            <a:miter lim="800000"/>
            <a:headEnd/>
            <a:tailEnd/>
          </a:ln>
          <a:effectLst/>
        </p:spPr>
      </p:pic>
      <p:sp>
        <p:nvSpPr>
          <p:cNvPr id="15" name="TextBox 14"/>
          <p:cNvSpPr txBox="1"/>
          <p:nvPr/>
        </p:nvSpPr>
        <p:spPr>
          <a:xfrm>
            <a:off x="142844" y="5000636"/>
            <a:ext cx="3929090" cy="1015663"/>
          </a:xfrm>
          <a:prstGeom prst="rect">
            <a:avLst/>
          </a:prstGeom>
          <a:noFill/>
        </p:spPr>
        <p:txBody>
          <a:bodyPr wrap="square" rtlCol="0">
            <a:spAutoFit/>
          </a:bodyPr>
          <a:lstStyle/>
          <a:p>
            <a:r>
              <a:rPr lang="en-US" sz="1400" dirty="0" smtClean="0"/>
              <a:t>This pie chart shows sales at different times of the day. Sales are almost equal in the morning, afternoon, evening, night, and midnight.</a:t>
            </a:r>
          </a:p>
          <a:p>
            <a:endParaRPr lang="en-US" dirty="0"/>
          </a:p>
        </p:txBody>
      </p:sp>
      <p:sp>
        <p:nvSpPr>
          <p:cNvPr id="16" name="TextBox 15"/>
          <p:cNvSpPr txBox="1"/>
          <p:nvPr/>
        </p:nvSpPr>
        <p:spPr>
          <a:xfrm>
            <a:off x="4572000" y="5000636"/>
            <a:ext cx="4286280" cy="1231106"/>
          </a:xfrm>
          <a:prstGeom prst="rect">
            <a:avLst/>
          </a:prstGeom>
          <a:noFill/>
        </p:spPr>
        <p:txBody>
          <a:bodyPr wrap="square" rtlCol="0">
            <a:spAutoFit/>
          </a:bodyPr>
          <a:lstStyle/>
          <a:p>
            <a:r>
              <a:rPr lang="en-US" sz="1400" dirty="0" smtClean="0"/>
              <a:t>This bar chart shows the number of orders received by each person.</a:t>
            </a:r>
            <a:br>
              <a:rPr lang="en-US" sz="1400" dirty="0" smtClean="0"/>
            </a:br>
            <a:r>
              <a:rPr lang="en-US" sz="1400" dirty="0" smtClean="0"/>
              <a:t>Mr. received slightly more orders than Mrs., but both received almost the same number of orders.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142852"/>
            <a:ext cx="8858312" cy="428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42844" y="142852"/>
            <a:ext cx="6572296" cy="400110"/>
          </a:xfrm>
          <a:prstGeom prst="rect">
            <a:avLst/>
          </a:prstGeom>
          <a:noFill/>
        </p:spPr>
        <p:txBody>
          <a:bodyPr wrap="square" rtlCol="0">
            <a:spAutoFit/>
          </a:bodyPr>
          <a:lstStyle/>
          <a:p>
            <a:r>
              <a:rPr lang="en-US" sz="2000" b="1" dirty="0" smtClean="0"/>
              <a:t>Bivariate Analysis-Categorical and Categorical</a:t>
            </a:r>
            <a:r>
              <a:rPr lang="en-US" dirty="0" smtClean="0"/>
              <a:t>:</a:t>
            </a:r>
            <a:endParaRPr lang="en-US" dirty="0"/>
          </a:p>
        </p:txBody>
      </p:sp>
      <p:sp>
        <p:nvSpPr>
          <p:cNvPr id="4" name="Rectangle 3"/>
          <p:cNvSpPr/>
          <p:nvPr/>
        </p:nvSpPr>
        <p:spPr>
          <a:xfrm>
            <a:off x="142844" y="642918"/>
            <a:ext cx="4357718" cy="40719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creenshot 2025-12-25 135022.png"/>
          <p:cNvPicPr>
            <a:picLocks noChangeAspect="1"/>
          </p:cNvPicPr>
          <p:nvPr/>
        </p:nvPicPr>
        <p:blipFill>
          <a:blip r:embed="rId2" cstate="print"/>
          <a:srcRect l="25781" t="12377" r="10156" b="37458"/>
          <a:stretch>
            <a:fillRect/>
          </a:stretch>
        </p:blipFill>
        <p:spPr>
          <a:xfrm>
            <a:off x="7215206" y="6286520"/>
            <a:ext cx="1928794" cy="571480"/>
          </a:xfrm>
          <a:prstGeom prst="rect">
            <a:avLst/>
          </a:prstGeom>
        </p:spPr>
      </p:pic>
      <p:sp>
        <p:nvSpPr>
          <p:cNvPr id="6" name="Rectangle 5"/>
          <p:cNvSpPr/>
          <p:nvPr/>
        </p:nvSpPr>
        <p:spPr>
          <a:xfrm>
            <a:off x="4572000" y="642918"/>
            <a:ext cx="4429156" cy="40719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70" name="Picture 2"/>
          <p:cNvPicPr>
            <a:picLocks noChangeAspect="1" noChangeArrowheads="1"/>
          </p:cNvPicPr>
          <p:nvPr/>
        </p:nvPicPr>
        <p:blipFill>
          <a:blip r:embed="rId3"/>
          <a:srcRect/>
          <a:stretch>
            <a:fillRect/>
          </a:stretch>
        </p:blipFill>
        <p:spPr bwMode="auto">
          <a:xfrm>
            <a:off x="214282" y="714356"/>
            <a:ext cx="4214842" cy="3929090"/>
          </a:xfrm>
          <a:prstGeom prst="rect">
            <a:avLst/>
          </a:prstGeom>
          <a:noFill/>
          <a:ln w="9525">
            <a:noFill/>
            <a:miter lim="800000"/>
            <a:headEnd/>
            <a:tailEnd/>
          </a:ln>
          <a:effectLst/>
        </p:spPr>
      </p:pic>
      <p:pic>
        <p:nvPicPr>
          <p:cNvPr id="7171" name="Picture 3"/>
          <p:cNvPicPr>
            <a:picLocks noChangeAspect="1" noChangeArrowheads="1"/>
          </p:cNvPicPr>
          <p:nvPr/>
        </p:nvPicPr>
        <p:blipFill>
          <a:blip r:embed="rId4"/>
          <a:srcRect/>
          <a:stretch>
            <a:fillRect/>
          </a:stretch>
        </p:blipFill>
        <p:spPr bwMode="auto">
          <a:xfrm>
            <a:off x="4643438" y="714356"/>
            <a:ext cx="4286280" cy="3500462"/>
          </a:xfrm>
          <a:prstGeom prst="rect">
            <a:avLst/>
          </a:prstGeom>
          <a:noFill/>
          <a:ln w="9525">
            <a:noFill/>
            <a:miter lim="800000"/>
            <a:headEnd/>
            <a:tailEnd/>
          </a:ln>
          <a:effectLst/>
        </p:spPr>
      </p:pic>
      <p:sp>
        <p:nvSpPr>
          <p:cNvPr id="9" name="Rectangle 8"/>
          <p:cNvSpPr/>
          <p:nvPr/>
        </p:nvSpPr>
        <p:spPr>
          <a:xfrm>
            <a:off x="142844" y="4786322"/>
            <a:ext cx="4357718" cy="12858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72000" y="4786322"/>
            <a:ext cx="4429156" cy="12858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14282" y="4786322"/>
            <a:ext cx="4143404" cy="1446550"/>
          </a:xfrm>
          <a:prstGeom prst="rect">
            <a:avLst/>
          </a:prstGeom>
          <a:noFill/>
        </p:spPr>
        <p:txBody>
          <a:bodyPr wrap="square" rtlCol="0">
            <a:spAutoFit/>
          </a:bodyPr>
          <a:lstStyle/>
          <a:p>
            <a:r>
              <a:rPr lang="en-US" sz="1400" dirty="0" smtClean="0"/>
              <a:t>This chart compares item types with payment methods.</a:t>
            </a:r>
            <a:br>
              <a:rPr lang="en-US" sz="1400" dirty="0" smtClean="0"/>
            </a:br>
            <a:r>
              <a:rPr lang="en-US" sz="1400" dirty="0" smtClean="0"/>
              <a:t>Fast food has more orders than beverages, and cash payments are used more than online payments for both items.</a:t>
            </a:r>
          </a:p>
          <a:p>
            <a:endParaRPr lang="en-US" dirty="0"/>
          </a:p>
        </p:txBody>
      </p:sp>
      <p:sp>
        <p:nvSpPr>
          <p:cNvPr id="13" name="TextBox 12"/>
          <p:cNvSpPr txBox="1"/>
          <p:nvPr/>
        </p:nvSpPr>
        <p:spPr>
          <a:xfrm>
            <a:off x="4643438" y="4929198"/>
            <a:ext cx="4214842" cy="954107"/>
          </a:xfrm>
          <a:prstGeom prst="rect">
            <a:avLst/>
          </a:prstGeom>
          <a:noFill/>
        </p:spPr>
        <p:txBody>
          <a:bodyPr wrap="square" rtlCol="0">
            <a:spAutoFit/>
          </a:bodyPr>
          <a:lstStyle/>
          <a:p>
            <a:r>
              <a:rPr lang="en-IN" sz="1400" dirty="0" smtClean="0"/>
              <a:t>The bar chart compares cash and online transactions at different times of the day. Cash transactions are higher than online transactions in most time periods. The difference is especially noticeable in the evening.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9406" r="10937" b="29757"/>
          <a:stretch>
            <a:fillRect/>
          </a:stretch>
        </p:blipFill>
        <p:spPr>
          <a:xfrm>
            <a:off x="6929454" y="6286521"/>
            <a:ext cx="2214546" cy="571480"/>
          </a:xfrm>
          <a:prstGeom prst="rect">
            <a:avLst/>
          </a:prstGeom>
        </p:spPr>
      </p:pic>
      <p:sp>
        <p:nvSpPr>
          <p:cNvPr id="3" name="Rectangle 2"/>
          <p:cNvSpPr/>
          <p:nvPr/>
        </p:nvSpPr>
        <p:spPr>
          <a:xfrm>
            <a:off x="142844" y="142852"/>
            <a:ext cx="4357718" cy="45005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643438" y="142852"/>
            <a:ext cx="4357718" cy="450059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p:cNvPicPr>
            <a:picLocks noChangeAspect="1" noChangeArrowheads="1"/>
          </p:cNvPicPr>
          <p:nvPr/>
        </p:nvPicPr>
        <p:blipFill>
          <a:blip r:embed="rId3"/>
          <a:srcRect/>
          <a:stretch>
            <a:fillRect/>
          </a:stretch>
        </p:blipFill>
        <p:spPr bwMode="auto">
          <a:xfrm>
            <a:off x="214282" y="214290"/>
            <a:ext cx="4214842" cy="4286280"/>
          </a:xfrm>
          <a:prstGeom prst="rect">
            <a:avLst/>
          </a:prstGeom>
          <a:noFill/>
          <a:ln w="9525">
            <a:noFill/>
            <a:miter lim="800000"/>
            <a:headEnd/>
            <a:tailEnd/>
          </a:ln>
          <a:effectLst/>
        </p:spPr>
      </p:pic>
      <p:pic>
        <p:nvPicPr>
          <p:cNvPr id="8195" name="Picture 3"/>
          <p:cNvPicPr>
            <a:picLocks noChangeAspect="1" noChangeArrowheads="1"/>
          </p:cNvPicPr>
          <p:nvPr/>
        </p:nvPicPr>
        <p:blipFill>
          <a:blip r:embed="rId4"/>
          <a:srcRect/>
          <a:stretch>
            <a:fillRect/>
          </a:stretch>
        </p:blipFill>
        <p:spPr bwMode="auto">
          <a:xfrm>
            <a:off x="4714876" y="179388"/>
            <a:ext cx="4214842" cy="4392620"/>
          </a:xfrm>
          <a:prstGeom prst="rect">
            <a:avLst/>
          </a:prstGeom>
          <a:noFill/>
          <a:ln w="9525">
            <a:noFill/>
            <a:miter lim="800000"/>
            <a:headEnd/>
            <a:tailEnd/>
          </a:ln>
          <a:effectLst/>
        </p:spPr>
      </p:pic>
      <p:sp>
        <p:nvSpPr>
          <p:cNvPr id="7" name="Rectangle 6"/>
          <p:cNvSpPr/>
          <p:nvPr/>
        </p:nvSpPr>
        <p:spPr>
          <a:xfrm>
            <a:off x="142844" y="4714884"/>
            <a:ext cx="4357718" cy="1357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4643438" y="4714884"/>
            <a:ext cx="4357718" cy="13573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14282" y="4786322"/>
            <a:ext cx="4143404" cy="1169551"/>
          </a:xfrm>
          <a:prstGeom prst="rect">
            <a:avLst/>
          </a:prstGeom>
          <a:noFill/>
        </p:spPr>
        <p:txBody>
          <a:bodyPr wrap="square" rtlCol="0">
            <a:spAutoFit/>
          </a:bodyPr>
          <a:lstStyle/>
          <a:p>
            <a:r>
              <a:rPr lang="en-IN" sz="1400" dirty="0" smtClean="0"/>
              <a:t>The bar chart shows cash and online transactions received by Mr. and Mrs.</a:t>
            </a:r>
          </a:p>
          <a:p>
            <a:r>
              <a:rPr lang="en-IN" sz="1400" dirty="0" smtClean="0"/>
              <a:t>Mr. received slightly more total transactions than Mrs.</a:t>
            </a:r>
          </a:p>
          <a:p>
            <a:r>
              <a:rPr lang="en-IN" sz="1400" dirty="0" smtClean="0"/>
              <a:t>For both receivers, cash transactions are higher than online transactions.</a:t>
            </a:r>
            <a:endParaRPr lang="en-US" sz="1400" dirty="0"/>
          </a:p>
        </p:txBody>
      </p:sp>
      <p:sp>
        <p:nvSpPr>
          <p:cNvPr id="11" name="TextBox 10"/>
          <p:cNvSpPr txBox="1"/>
          <p:nvPr/>
        </p:nvSpPr>
        <p:spPr>
          <a:xfrm>
            <a:off x="4714876" y="4714884"/>
            <a:ext cx="4071966" cy="1384995"/>
          </a:xfrm>
          <a:prstGeom prst="rect">
            <a:avLst/>
          </a:prstGeom>
          <a:noFill/>
        </p:spPr>
        <p:txBody>
          <a:bodyPr wrap="square" rtlCol="0">
            <a:spAutoFit/>
          </a:bodyPr>
          <a:lstStyle/>
          <a:p>
            <a:r>
              <a:rPr lang="en-IN" sz="1400" dirty="0" smtClean="0"/>
              <a:t>The bar chart shows the average quantity for cash and online transactions.</a:t>
            </a:r>
          </a:p>
          <a:p>
            <a:r>
              <a:rPr lang="en-IN" sz="1400" dirty="0" smtClean="0"/>
              <a:t>Cash transactions have a slightly higher avereage quantity that online transactions. </a:t>
            </a:r>
          </a:p>
          <a:p>
            <a:pPr algn="just"/>
            <a:r>
              <a:rPr lang="en-IN" sz="1400" dirty="0" smtClean="0"/>
              <a:t>The error bars indicates variation in the average values.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4159" t="12378" r="10937" b="47559"/>
          <a:stretch>
            <a:fillRect/>
          </a:stretch>
        </p:blipFill>
        <p:spPr>
          <a:xfrm>
            <a:off x="7072330" y="6286520"/>
            <a:ext cx="1928794" cy="571480"/>
          </a:xfrm>
          <a:prstGeom prst="rect">
            <a:avLst/>
          </a:prstGeom>
        </p:spPr>
      </p:pic>
      <p:sp>
        <p:nvSpPr>
          <p:cNvPr id="3" name="Rectangle 2"/>
          <p:cNvSpPr/>
          <p:nvPr/>
        </p:nvSpPr>
        <p:spPr>
          <a:xfrm>
            <a:off x="142844" y="142852"/>
            <a:ext cx="4572032" cy="4286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4786314" y="142852"/>
            <a:ext cx="4214842" cy="42862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42844" y="4500570"/>
            <a:ext cx="4572032" cy="1643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786314" y="4500570"/>
            <a:ext cx="4214842" cy="1643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p:cNvPicPr>
            <a:picLocks noChangeAspect="1" noChangeArrowheads="1"/>
          </p:cNvPicPr>
          <p:nvPr/>
        </p:nvPicPr>
        <p:blipFill>
          <a:blip r:embed="rId3"/>
          <a:srcRect/>
          <a:stretch>
            <a:fillRect/>
          </a:stretch>
        </p:blipFill>
        <p:spPr bwMode="auto">
          <a:xfrm>
            <a:off x="214282" y="214290"/>
            <a:ext cx="4429156" cy="4143404"/>
          </a:xfrm>
          <a:prstGeom prst="rect">
            <a:avLst/>
          </a:prstGeom>
          <a:noFill/>
          <a:ln w="9525">
            <a:noFill/>
            <a:miter lim="800000"/>
            <a:headEnd/>
            <a:tailEnd/>
          </a:ln>
          <a:effectLst/>
        </p:spPr>
      </p:pic>
      <p:pic>
        <p:nvPicPr>
          <p:cNvPr id="9219" name="Picture 3"/>
          <p:cNvPicPr>
            <a:picLocks noChangeAspect="1" noChangeArrowheads="1"/>
          </p:cNvPicPr>
          <p:nvPr/>
        </p:nvPicPr>
        <p:blipFill>
          <a:blip r:embed="rId4"/>
          <a:srcRect/>
          <a:stretch>
            <a:fillRect/>
          </a:stretch>
        </p:blipFill>
        <p:spPr bwMode="auto">
          <a:xfrm>
            <a:off x="4929190" y="193675"/>
            <a:ext cx="4000528" cy="4092581"/>
          </a:xfrm>
          <a:prstGeom prst="rect">
            <a:avLst/>
          </a:prstGeom>
          <a:noFill/>
          <a:ln w="9525">
            <a:noFill/>
            <a:miter lim="800000"/>
            <a:headEnd/>
            <a:tailEnd/>
          </a:ln>
          <a:effectLst/>
        </p:spPr>
      </p:pic>
      <p:sp>
        <p:nvSpPr>
          <p:cNvPr id="9" name="TextBox 8"/>
          <p:cNvSpPr txBox="1"/>
          <p:nvPr/>
        </p:nvSpPr>
        <p:spPr>
          <a:xfrm>
            <a:off x="214282" y="4572008"/>
            <a:ext cx="4357718" cy="1384995"/>
          </a:xfrm>
          <a:prstGeom prst="rect">
            <a:avLst/>
          </a:prstGeom>
          <a:noFill/>
        </p:spPr>
        <p:txBody>
          <a:bodyPr wrap="square" rtlCol="0">
            <a:spAutoFit/>
          </a:bodyPr>
          <a:lstStyle/>
          <a:p>
            <a:r>
              <a:rPr lang="en-IN" sz="1400" dirty="0" smtClean="0"/>
              <a:t>The scatter plot shows the relationship between quantity and transaction amount.</a:t>
            </a:r>
          </a:p>
          <a:p>
            <a:r>
              <a:rPr lang="en-IN" sz="1400" dirty="0" smtClean="0"/>
              <a:t>As quantity increases, the transaction amount generally increases.</a:t>
            </a:r>
          </a:p>
          <a:p>
            <a:r>
              <a:rPr lang="en-IN" sz="1400" dirty="0" smtClean="0"/>
              <a:t>The spread of points shows variation in transaction amounts for smiliar quantities.</a:t>
            </a:r>
            <a:endParaRPr lang="en-US" sz="1400" dirty="0"/>
          </a:p>
        </p:txBody>
      </p:sp>
      <p:sp>
        <p:nvSpPr>
          <p:cNvPr id="10" name="TextBox 9"/>
          <p:cNvSpPr txBox="1"/>
          <p:nvPr/>
        </p:nvSpPr>
        <p:spPr>
          <a:xfrm>
            <a:off x="4786314" y="4500570"/>
            <a:ext cx="4000528" cy="1600438"/>
          </a:xfrm>
          <a:prstGeom prst="rect">
            <a:avLst/>
          </a:prstGeom>
          <a:noFill/>
        </p:spPr>
        <p:txBody>
          <a:bodyPr wrap="square" rtlCol="0">
            <a:spAutoFit/>
          </a:bodyPr>
          <a:lstStyle/>
          <a:p>
            <a:r>
              <a:rPr lang="en-IN" sz="1400" dirty="0" smtClean="0"/>
              <a:t>The box plot shows transaction amounts across different times of the day.</a:t>
            </a:r>
          </a:p>
          <a:p>
            <a:r>
              <a:rPr lang="en-IN" sz="1400" dirty="0" smtClean="0"/>
              <a:t>The median transaction amount is similar for all periods.</a:t>
            </a:r>
          </a:p>
          <a:p>
            <a:r>
              <a:rPr lang="en-IN" sz="1400" dirty="0" smtClean="0"/>
              <a:t>Morning and night show slightly higher variation and higher maximum values.</a:t>
            </a:r>
          </a:p>
          <a:p>
            <a:r>
              <a:rPr lang="en-IN" sz="1400" dirty="0" smtClean="0"/>
              <a:t>Outliers are present in all tim periods.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6562" t="12378" r="10937" b="37144"/>
          <a:stretch>
            <a:fillRect/>
          </a:stretch>
        </p:blipFill>
        <p:spPr>
          <a:xfrm>
            <a:off x="7215174" y="6357934"/>
            <a:ext cx="1928826" cy="500066"/>
          </a:xfrm>
          <a:prstGeom prst="rect">
            <a:avLst/>
          </a:prstGeom>
        </p:spPr>
      </p:pic>
      <p:sp>
        <p:nvSpPr>
          <p:cNvPr id="3" name="Rectangle 2"/>
          <p:cNvSpPr/>
          <p:nvPr/>
        </p:nvSpPr>
        <p:spPr>
          <a:xfrm>
            <a:off x="142844" y="142852"/>
            <a:ext cx="8786874" cy="57150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14282" y="214290"/>
            <a:ext cx="2571768" cy="400110"/>
          </a:xfrm>
          <a:prstGeom prst="rect">
            <a:avLst/>
          </a:prstGeom>
          <a:noFill/>
        </p:spPr>
        <p:txBody>
          <a:bodyPr wrap="square" rtlCol="0">
            <a:spAutoFit/>
          </a:bodyPr>
          <a:lstStyle/>
          <a:p>
            <a:r>
              <a:rPr lang="en-US" sz="2000" b="1" dirty="0" smtClean="0"/>
              <a:t>Multivariate Analysis:</a:t>
            </a:r>
            <a:endParaRPr lang="en-US" sz="2000" b="1" dirty="0"/>
          </a:p>
        </p:txBody>
      </p:sp>
      <p:sp>
        <p:nvSpPr>
          <p:cNvPr id="5" name="Rectangle 4"/>
          <p:cNvSpPr/>
          <p:nvPr/>
        </p:nvSpPr>
        <p:spPr>
          <a:xfrm>
            <a:off x="142844" y="785794"/>
            <a:ext cx="5572164" cy="52149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https://discord.com/channels/@me/1432287560759115841/1457616108856016968https://discord.com/channels/@me/1432287560759115841/1457616108856016968</a:t>
            </a:r>
            <a:endParaRPr lang="en-US" dirty="0"/>
          </a:p>
        </p:txBody>
      </p:sp>
      <p:pic>
        <p:nvPicPr>
          <p:cNvPr id="1026" name="Picture 2"/>
          <p:cNvPicPr>
            <a:picLocks noChangeAspect="1" noChangeArrowheads="1"/>
          </p:cNvPicPr>
          <p:nvPr/>
        </p:nvPicPr>
        <p:blipFill>
          <a:blip r:embed="rId3"/>
          <a:srcRect/>
          <a:stretch>
            <a:fillRect/>
          </a:stretch>
        </p:blipFill>
        <p:spPr bwMode="auto">
          <a:xfrm>
            <a:off x="214282" y="785794"/>
            <a:ext cx="5500726" cy="5214974"/>
          </a:xfrm>
          <a:prstGeom prst="rect">
            <a:avLst/>
          </a:prstGeom>
          <a:noFill/>
          <a:ln w="9525">
            <a:noFill/>
            <a:miter lim="800000"/>
            <a:headEnd/>
            <a:tailEnd/>
          </a:ln>
          <a:effectLst/>
        </p:spPr>
      </p:pic>
      <p:sp>
        <p:nvSpPr>
          <p:cNvPr id="7" name="TextBox 6"/>
          <p:cNvSpPr txBox="1"/>
          <p:nvPr/>
        </p:nvSpPr>
        <p:spPr>
          <a:xfrm>
            <a:off x="5929322" y="1071546"/>
            <a:ext cx="3000396" cy="1846659"/>
          </a:xfrm>
          <a:prstGeom prst="rect">
            <a:avLst/>
          </a:prstGeom>
          <a:noFill/>
        </p:spPr>
        <p:txBody>
          <a:bodyPr wrap="square" rtlCol="0">
            <a:spAutoFit/>
          </a:bodyPr>
          <a:lstStyle/>
          <a:p>
            <a:r>
              <a:rPr lang="en-US" sz="1600" dirty="0" smtClean="0"/>
              <a:t>This </a:t>
            </a:r>
            <a:r>
              <a:rPr lang="en-US" sz="1600" dirty="0" smtClean="0"/>
              <a:t>chart shows how strongly different values are related to each other.</a:t>
            </a:r>
          </a:p>
          <a:p>
            <a:r>
              <a:rPr lang="en-US" sz="1600" dirty="0" smtClean="0"/>
              <a:t>Numbers close to </a:t>
            </a:r>
            <a:r>
              <a:rPr lang="en-US" sz="1600" b="1" dirty="0" smtClean="0"/>
              <a:t>1</a:t>
            </a:r>
            <a:r>
              <a:rPr lang="en-US" sz="1600" dirty="0" smtClean="0"/>
              <a:t> mean strong relation, </a:t>
            </a:r>
            <a:r>
              <a:rPr lang="en-US" sz="1600" b="1" dirty="0" smtClean="0"/>
              <a:t>0</a:t>
            </a:r>
            <a:r>
              <a:rPr lang="en-US" sz="1600" dirty="0" smtClean="0"/>
              <a:t> means weak, and </a:t>
            </a:r>
            <a:r>
              <a:rPr lang="en-US" sz="1600" b="1" dirty="0" smtClean="0"/>
              <a:t>negative</a:t>
            </a:r>
            <a:r>
              <a:rPr lang="en-US" sz="1600" dirty="0" smtClean="0"/>
              <a:t> means opposite relation.</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5-12-25 135022.png"/>
          <p:cNvPicPr>
            <a:picLocks noChangeAspect="1"/>
          </p:cNvPicPr>
          <p:nvPr/>
        </p:nvPicPr>
        <p:blipFill>
          <a:blip r:embed="rId2" cstate="print"/>
          <a:srcRect l="25781" t="12541" r="10156" b="34886"/>
          <a:stretch>
            <a:fillRect/>
          </a:stretch>
        </p:blipFill>
        <p:spPr>
          <a:xfrm>
            <a:off x="7286612" y="6286496"/>
            <a:ext cx="1857388" cy="571504"/>
          </a:xfrm>
          <a:prstGeom prst="rect">
            <a:avLst/>
          </a:prstGeom>
        </p:spPr>
      </p:pic>
      <p:sp>
        <p:nvSpPr>
          <p:cNvPr id="3" name="Rectangle 2"/>
          <p:cNvSpPr/>
          <p:nvPr/>
        </p:nvSpPr>
        <p:spPr>
          <a:xfrm>
            <a:off x="214282" y="214290"/>
            <a:ext cx="8715436" cy="514353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p:nvPicPr>
        <p:blipFill>
          <a:blip r:embed="rId3"/>
          <a:srcRect r="952"/>
          <a:stretch>
            <a:fillRect/>
          </a:stretch>
        </p:blipFill>
        <p:spPr bwMode="auto">
          <a:xfrm>
            <a:off x="357158" y="285728"/>
            <a:ext cx="8501122" cy="5000660"/>
          </a:xfrm>
          <a:prstGeom prst="rect">
            <a:avLst/>
          </a:prstGeom>
          <a:noFill/>
          <a:ln w="9525">
            <a:noFill/>
            <a:miter lim="800000"/>
            <a:headEnd/>
            <a:tailEnd/>
          </a:ln>
          <a:effectLst/>
        </p:spPr>
      </p:pic>
      <p:sp>
        <p:nvSpPr>
          <p:cNvPr id="5" name="Rectangle 4"/>
          <p:cNvSpPr/>
          <p:nvPr/>
        </p:nvSpPr>
        <p:spPr>
          <a:xfrm>
            <a:off x="214282" y="5429264"/>
            <a:ext cx="8715436" cy="6429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285720" y="5429264"/>
            <a:ext cx="8572560" cy="861774"/>
          </a:xfrm>
          <a:prstGeom prst="rect">
            <a:avLst/>
          </a:prstGeom>
          <a:noFill/>
        </p:spPr>
        <p:txBody>
          <a:bodyPr wrap="square" rtlCol="0">
            <a:spAutoFit/>
          </a:bodyPr>
          <a:lstStyle/>
          <a:p>
            <a:r>
              <a:rPr lang="en-US" sz="1600" dirty="0" smtClean="0"/>
              <a:t>This chart shows the relationship between </a:t>
            </a:r>
            <a:r>
              <a:rPr lang="en-US" sz="1600" b="1" dirty="0" smtClean="0"/>
              <a:t>item price</a:t>
            </a:r>
            <a:r>
              <a:rPr lang="en-US" sz="1600" dirty="0" smtClean="0"/>
              <a:t>, </a:t>
            </a:r>
            <a:r>
              <a:rPr lang="en-US" sz="1600" b="1" dirty="0" smtClean="0"/>
              <a:t>quantity</a:t>
            </a:r>
            <a:r>
              <a:rPr lang="en-US" sz="1600" dirty="0" smtClean="0"/>
              <a:t>, and </a:t>
            </a:r>
            <a:r>
              <a:rPr lang="en-US" sz="1600" b="1" dirty="0" smtClean="0"/>
              <a:t>transaction amount</a:t>
            </a:r>
            <a:r>
              <a:rPr lang="en-US" sz="1600" dirty="0" smtClean="0"/>
              <a:t>.</a:t>
            </a:r>
          </a:p>
          <a:p>
            <a:r>
              <a:rPr lang="en-US" sz="1600" dirty="0" smtClean="0"/>
              <a:t>Darker dots mean </a:t>
            </a:r>
            <a:r>
              <a:rPr lang="en-US" sz="1600" b="1" dirty="0" smtClean="0"/>
              <a:t>higher transaction amount</a:t>
            </a:r>
            <a:r>
              <a:rPr lang="en-US" sz="1600" dirty="0" smtClean="0"/>
              <a:t>.</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2844" y="142852"/>
            <a:ext cx="8858312" cy="65722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786050" y="1785926"/>
            <a:ext cx="3000396" cy="707886"/>
          </a:xfrm>
          <a:prstGeom prst="rect">
            <a:avLst/>
          </a:prstGeom>
          <a:noFill/>
        </p:spPr>
        <p:txBody>
          <a:bodyPr wrap="square" rtlCol="0">
            <a:spAutoFit/>
          </a:bodyPr>
          <a:lstStyle/>
          <a:p>
            <a:pPr algn="ctr"/>
            <a:r>
              <a:rPr lang="en-IN" sz="4000" b="1" dirty="0" smtClean="0"/>
              <a:t>Thank you</a:t>
            </a:r>
            <a:endParaRPr lang="en-US" sz="4000" b="1" dirty="0"/>
          </a:p>
        </p:txBody>
      </p:sp>
      <p:sp>
        <p:nvSpPr>
          <p:cNvPr id="8" name="TextBox 7"/>
          <p:cNvSpPr txBox="1"/>
          <p:nvPr/>
        </p:nvSpPr>
        <p:spPr>
          <a:xfrm>
            <a:off x="2214546" y="2500306"/>
            <a:ext cx="4214842" cy="646331"/>
          </a:xfrm>
          <a:prstGeom prst="rect">
            <a:avLst/>
          </a:prstGeom>
          <a:noFill/>
        </p:spPr>
        <p:txBody>
          <a:bodyPr wrap="square" rtlCol="0">
            <a:spAutoFit/>
          </a:bodyPr>
          <a:lstStyle/>
          <a:p>
            <a:pPr algn="ctr"/>
            <a:r>
              <a:rPr lang="en-IN" dirty="0" smtClean="0"/>
              <a:t>Adapt it with your needs and it will capture all the audience attensions.</a:t>
            </a:r>
            <a:endParaRPr lang="en-US" dirty="0"/>
          </a:p>
        </p:txBody>
      </p:sp>
      <p:sp>
        <p:nvSpPr>
          <p:cNvPr id="9" name="Smiley Face 8"/>
          <p:cNvSpPr/>
          <p:nvPr/>
        </p:nvSpPr>
        <p:spPr>
          <a:xfrm>
            <a:off x="5572132" y="2928934"/>
            <a:ext cx="928694" cy="857256"/>
          </a:xfrm>
          <a:prstGeom prst="smileyFac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Screenshot 2025-12-25 135022.png"/>
          <p:cNvPicPr>
            <a:picLocks noChangeAspect="1"/>
          </p:cNvPicPr>
          <p:nvPr/>
        </p:nvPicPr>
        <p:blipFill>
          <a:blip r:embed="rId2"/>
          <a:srcRect l="26562" t="12378" r="10937" b="37459"/>
          <a:stretch>
            <a:fillRect/>
          </a:stretch>
        </p:blipFill>
        <p:spPr>
          <a:xfrm>
            <a:off x="6500826" y="5857892"/>
            <a:ext cx="2428892" cy="64294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4164</TotalTime>
  <Words>780</Words>
  <Application>Microsoft Office PowerPoint</Application>
  <PresentationFormat>On-screen Show (4:3)</PresentationFormat>
  <Paragraphs>76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Truning Sales Data into Insights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247</cp:revision>
  <dcterms:created xsi:type="dcterms:W3CDTF">2025-12-25T08:18:09Z</dcterms:created>
  <dcterms:modified xsi:type="dcterms:W3CDTF">2026-01-05T14:43:22Z</dcterms:modified>
</cp:coreProperties>
</file>